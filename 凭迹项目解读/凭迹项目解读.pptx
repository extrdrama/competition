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2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2" Type="http://schemas.openxmlformats.org/officeDocument/2006/relationships/notesMaster" Target="notesMasters/notesMaster1.xml" /><Relationship Id="rId14" Type="http://schemas.openxmlformats.org/officeDocument/2006/relationships/tableStyles" Target="tableStyles.xml" /><Relationship Id="rId13" Type="http://schemas.openxmlformats.org/officeDocument/2006/relationships/presProps" Target="presProps.xml" /><Relationship Id="rId3" Type="http://schemas.openxmlformats.org/officeDocument/2006/relationships/slide" Target="slides/slide3.xml" /><Relationship Id="rId15" Type="http://schemas.openxmlformats.org/officeDocument/2006/relationships/viewProps" Target="viewProps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media/image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Relationship Id="rId2" Type="http://schemas.openxmlformats.org/officeDocument/2006/relationships/image" Target="media/image9.svg" /><Relationship Id="rId3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Relationship Id="rId2" Type="http://schemas.openxmlformats.org/officeDocument/2006/relationships/image" Target="media/image12.svg" /><Relationship Id="rId3" Type="http://schemas.openxmlformats.org/officeDocument/2006/relationships/image" Target="media/image13.svg" /><Relationship Id="rId4" Type="http://schemas.openxmlformats.org/officeDocument/2006/relationships/image" Target="media/image14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 style={{ width: 1280, height: 720, background: '#0F172A', padding: '0 70px', fontFamily: &quot;'思源黑体', 'Microsoft YaHei', sans-serif&quot;, position: 'relative', overflow: 'hidden' }}&gt;&#13;&#10;  &lt;Box style={{ position: 'absolute', top: 0, left: 0, width: '100%', height: 8, background: 'linear-gradient(135deg, #3B82F6 0%, #06B6D4 100%)' }} /&gt;&#13;&#10;  &lt;Box style={{ position: 'absolute', top: -80, left: -60, width: 320, height: 320, borderRadius: 200, background: 'rgba(6,182,212,0.10)' }} /&gt;&#13;&#10;  &lt;Box style={{ position: 'absolute', bottom: -90, right: -40, width: 300, height: 300, borderRadius: 180, background: 'rgba(59,130,246,0.12)' }} /&gt;&#13;&#10;  &lt;Box style={{ height: 190, justifyContent: 'center' }}&gt;&#13;&#10;    &lt;Text style={{ fontSize: 18, color: '#06B6D4', letterSpacing: 6, fontWeight: 'bold' }}&gt;揭榜挑战赛 · 题目 3 · 防御性安全作品&lt;/Text&gt;&#13;&#10;  &lt;/Box&gt;&#13;&#10;  &lt;Box style={{ gap: 24 }}&gt;&#13;&#10;    &lt;Box style={{ flexDirection: 'row', alignItems: 'center', gap: 24 }}&gt;&#13;&#10;      &lt;FAIcon name='satellite-dish' style={{ fill: '#06B6D4', width: 60, height: 60 }} /&gt;&#13;&#10;      &lt;Text style={{ fontSize: 56, fontWeight: 'bold', color: '#FFFFFF' }}&gt;凭迹 CredWatch&lt;/Text&gt;&#13;&#10;    &lt;/Box&gt;&#13;&#10;    &lt;Text style={{ fontSize: 34, fontWeight: 'bold', color: '#E2E8F0' }}&gt;给云凭据泄露装上&quot;雷达 + 报警器&quot;&lt;/Text&gt;&#13;&#10;    &lt;Text style={{ fontSize: 21, color: '#94A3B8', lineHeight: 1.6 }}&gt;&#13;&#10;      把&quot;凭据从公开暴露，到被主人发现&quot;的时间窗，从行业常见的数天甚至数月，{'\n'}&#13;&#10;      压缩到 &lt;Text style={{ color: '#F59E0B', fontWeight: 'bold', fontSize: 24 }}&gt;分钟级。&lt;/Text&gt;&#13;&#10;    &lt;/Text&gt;&#13;&#10;  &lt;/Box&gt;&#13;&#10;  &lt;Box style={{ position: 'absolute', bottom: 40, left: 70, right: 70, flexDirection: 'row', justifyContent: 'space-between' }}&gt;&#13;&#10;    &lt;Text style={{ fontSize: 14, color: '#64748B' }}&gt;凭迹 CredWatch · 项目解读&lt;/Text&gt;&#13;&#10;    &lt;Text style={{ fontSize: 14, color: '#64748B' }}&gt;01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66750" y="800100"/>
            <a:ext cx="10858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揭榜挑战赛</a:t>
            </a:r>
            <a:r>
              <a:rPr lang="en-US" sz="1350" b="1" spc="450">
                <a:solidFill>
                  <a:srgbClr val="06B6D4"/>
                </a:solidFill>
                <a:latin typeface="思源黑体"/>
                <a:ea typeface="思源黑体"/>
              </a:rPr>
              <a:t> · </a:t>
            </a: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题目</a:t>
            </a:r>
            <a:r>
              <a:rPr lang="en-US" sz="1350" b="1" spc="450">
                <a:solidFill>
                  <a:srgbClr val="06B6D4"/>
                </a:solidFill>
                <a:latin typeface="思源黑体"/>
                <a:ea typeface="思源黑体"/>
              </a:rPr>
              <a:t> 3 · </a:t>
            </a:r>
            <a:r>
              <a:rPr lang="zh-CN" sz="1350" b="1" spc="450">
                <a:solidFill>
                  <a:srgbClr val="06B6D4"/>
                </a:solidFill>
                <a:latin typeface="思源黑体"/>
                <a:ea typeface="思源黑体"/>
              </a:rPr>
              <a:t>防御性安全作品</a:t>
            </a:r>
            <a:endParaRPr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1847850"/>
            <a:ext cx="571500" cy="571500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466850" y="1809750"/>
            <a:ext cx="41719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思源黑体"/>
                <a:ea typeface="思源黑体"/>
              </a:rPr>
              <a:t>凭迹</a:t>
            </a:r>
            <a:r>
              <a:rPr lang="en-US" sz="4200" b="1">
                <a:solidFill>
                  <a:srgbClr val="FFFFFF"/>
                </a:solidFill>
                <a:latin typeface="思源黑体"/>
                <a:ea typeface="思源黑体"/>
              </a:rPr>
              <a:t> CredWatch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66750" y="2686050"/>
            <a:ext cx="1085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2E8F0"/>
                </a:solidFill>
                <a:latin typeface="思源黑体"/>
                <a:ea typeface="思源黑体"/>
              </a:rPr>
              <a:t>给云凭据泄露装上</a:t>
            </a:r>
            <a:r>
              <a:rPr lang="en-US" sz="2550" b="1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E2E8F0"/>
                </a:solidFill>
                <a:latin typeface="思源黑体"/>
                <a:ea typeface="思源黑体"/>
              </a:rPr>
              <a:t>雷达</a:t>
            </a:r>
            <a:r>
              <a:rPr lang="en-US" sz="2550" b="1">
                <a:solidFill>
                  <a:srgbClr val="E2E8F0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E2E8F0"/>
                </a:solidFill>
                <a:latin typeface="思源黑体"/>
                <a:ea typeface="思源黑体"/>
              </a:rPr>
              <a:t>报警器</a:t>
            </a:r>
            <a:r>
              <a:rPr lang="en-US" sz="2550" b="1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66750" y="3305175"/>
            <a:ext cx="10858500" cy="7715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75">
                <a:solidFill>
                  <a:srgbClr val="94A3B8"/>
                </a:solidFill>
                <a:latin typeface="思源黑体"/>
                <a:ea typeface="思源黑体"/>
              </a:rPr>
              <a:t>把</a:t>
            </a:r>
            <a:r>
              <a:rPr lang="en-US" sz="1575">
                <a:solidFill>
                  <a:srgbClr val="94A3B8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94A3B8"/>
                </a:solidFill>
                <a:latin typeface="思源黑体"/>
                <a:ea typeface="思源黑体"/>
              </a:rPr>
              <a:t>凭据从公开暴露，到被主人发现</a:t>
            </a:r>
            <a:r>
              <a:rPr lang="en-US" sz="1575">
                <a:solidFill>
                  <a:srgbClr val="94A3B8"/>
                </a:solidFill>
                <a:latin typeface="思源黑体"/>
                <a:ea typeface="思源黑体"/>
              </a:rPr>
              <a:t>"</a:t>
            </a:r>
            <a:r>
              <a:rPr lang="zh-CN" sz="1575">
                <a:solidFill>
                  <a:srgbClr val="94A3B8"/>
                </a:solidFill>
                <a:latin typeface="思源黑体"/>
                <a:ea typeface="思源黑体"/>
              </a:rPr>
              <a:t>的时间窗，从行业常见的数天甚至数月，</a:t>
            </a:r>
            <a:endParaRPr/>
          </a:p>
          <a:p>
            <a:pPr>
              <a:lnSpc>
                <a:spcPct val="160000"/>
              </a:lnSpc>
            </a:pPr>
            <a:r>
              <a:rPr lang="zh-CN" sz="1575">
                <a:solidFill>
                  <a:srgbClr val="94A3B8"/>
                </a:solidFill>
                <a:latin typeface="思源黑体"/>
                <a:ea typeface="思源黑体"/>
              </a:rPr>
              <a:t>压缩到</a:t>
            </a:r>
            <a:r>
              <a:rPr lang="en-US" sz="1575">
                <a:solidFill>
                  <a:srgbClr val="94A3B8"/>
                </a:solidFill>
                <a:latin typeface="思源黑体"/>
                <a:ea typeface="思源黑体"/>
              </a:rPr>
              <a:t> </a:t>
            </a:r>
            <a:r>
              <a:rPr lang="zh-CN" sz="1575">
                <a:solidFill>
                  <a:srgbClr val="94A3B8"/>
                </a:solidFill>
                <a:latin typeface="思源黑体"/>
                <a:ea typeface="思源黑体"/>
              </a:rPr>
              <a:t>分钟级。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" name=""/>
          <p:cNvSpPr/>
          <p:nvPr/>
        </p:nvSpPr>
        <p:spPr>
          <a:xfrm rot="0" flipH="0" flipV="0">
            <a:off x="-571500" y="-762000"/>
            <a:ext cx="3048000" cy="3048000"/>
          </a:xfrm>
          <a:custGeom>
            <a:pathLst>
              <a:path w="320" h="320">
                <a:moveTo>
                  <a:pt x="299" y="80"/>
                </a:moveTo>
                <a:cubicBezTo>
                  <a:pt x="337" y="147"/>
                  <a:pt x="322" y="232"/>
                  <a:pt x="264" y="282"/>
                </a:cubicBezTo>
                <a:cubicBezTo>
                  <a:pt x="206" y="331"/>
                  <a:pt x="120" y="333"/>
                  <a:pt x="60" y="285"/>
                </a:cubicBezTo>
                <a:lnTo>
                  <a:pt x="60" y="80"/>
                </a:lnTo>
                <a:lnTo>
                  <a:pt x="299" y="80"/>
                </a:lnTo>
                <a:close/>
              </a:path>
            </a:pathLst>
          </a:custGeom>
          <a:solidFill>
            <a:srgbClr val="06B6D4">
              <a:alpha val="10000"/>
            </a:srgbClr>
          </a:solidFill>
          <a:ln/>
        </p:spPr>
        <p:txBody>
          <a:bodyPr/>
          <a:p/>
        </p:txBody>
      </p:sp>
      <p:sp>
        <p:nvSpPr>
          <p:cNvPr id="10" name=""/>
          <p:cNvSpPr/>
          <p:nvPr/>
        </p:nvSpPr>
        <p:spPr>
          <a:xfrm rot="0" flipH="0" flipV="0">
            <a:off x="9715500" y="4857750"/>
            <a:ext cx="2857500" cy="2857500"/>
          </a:xfrm>
          <a:custGeom>
            <a:pathLst>
              <a:path w="300" h="300">
                <a:moveTo>
                  <a:pt x="154" y="0"/>
                </a:moveTo>
                <a:cubicBezTo>
                  <a:pt x="194" y="1"/>
                  <a:pt x="233" y="18"/>
                  <a:pt x="260" y="48"/>
                </a:cubicBezTo>
                <a:lnTo>
                  <a:pt x="260" y="210"/>
                </a:lnTo>
                <a:lnTo>
                  <a:pt x="13" y="210"/>
                </a:lnTo>
                <a:cubicBezTo>
                  <a:pt x="-8" y="164"/>
                  <a:pt x="-3" y="110"/>
                  <a:pt x="25" y="68"/>
                </a:cubicBezTo>
                <a:cubicBezTo>
                  <a:pt x="52" y="26"/>
                  <a:pt x="99" y="0"/>
                  <a:pt x="150" y="0"/>
                </a:cubicBezTo>
                <a:close/>
              </a:path>
            </a:pathLst>
          </a:cu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66750" y="6315075"/>
            <a:ext cx="1657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凭迹</a:t>
            </a: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 CredWatch · </a:t>
            </a: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1068050" y="63150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思源黑体"/>
                <a:ea typeface="思源黑体"/>
              </a:rPr>
              <a:t>01 / 11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7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我们做了什么，为什么要做它&lt;/Text&gt;&#13;&#10;  &lt;/Box&gt;&#13;&#10;  &lt;Box style={{ height: 540, gap: 22 }}&gt;&#13;&#10;    &lt;Box style={{ height: 140, background: '#EFF6FF', borderRadius: 12, padding: '20px 28px', justifyContent: 'center', border: '1px solid #DBEAFE' }}&gt;&#13;&#10;      &lt;Text style={{ fontSize: 23, color: '#1E3A5F', lineHeight: 1.6 }}&gt;&#13;&#10;        &lt;Text style={{ fontWeight: 'bold', color: '#3B82F6' }}&gt;凭迹 = 泄露雷达 + 报警器：&lt;/Text&gt;&#13;&#10;        持续监测 17 类公开渠道，自动发现暴露的云凭据，&#13;&#10;        并回答三个现有工具答不了的问题——&lt;Text style={{ fontWeight: 'bold' }}&gt;它还能用吗？它是谁的？该怎么处置？&lt;/Text&gt;&#13;&#10;      &lt;/Text&gt;&#13;&#10;    &lt;/Box&gt;&#13;&#10;    &lt;Text style={{ fontSize: 21, fontWeight: 'bold', color: '#0F172A' }}&gt;已有的工具不够用，差在这三处：&lt;/Text&gt;&#13;&#10;    &lt;Box style={{ flexDirection: 'row', gap: 20, height: 190 }}&gt;&#13;&#10;      &lt;Box style={{ flex: 1, background: '#F8FAFC', borderRadius: 12, padding: 22, border: '1px solid #E2E8F0' }}&gt;&#13;&#10;        &lt;Text style={{ fontSize: 20, fontWeight: 'bold', color: '#0F172A' }}&gt;只盯着一个仓库&lt;/Text&gt;&#13;&#10;        &lt;Text style={{ fontSize: 17, color: '#475569', lineHeight: 1.6, marginTop: 10 }}&gt;&#13;&#10;          传统扫描器（如各类 CI 密钥扫描）只查自己的代码仓库——可钥匙漏在&quot;别人家院子&quot;（公开渠道）里，它看不见。&#13;&#10;        &lt;/Text&gt;&#13;&#10;      &lt;/Box&gt;&#13;&#10;      &lt;Box style={{ flex: 1, background: '#F8FAFC', borderRadius: 12, padding: 22, border: '1px solid #E2E8F0' }}&gt;&#13;&#10;        &lt;Text style={{ fontSize: 20, fontWeight: 'bold', color: '#0F172A' }}&gt;只会喊&quot;疑似&quot;&lt;/Text&gt;&#13;&#10;        &lt;Text style={{ fontSize: 17, color: '#475569', lineHeight: 1.6, marginTop: 10 }}&gt;&#13;&#10;          报一堆&quot;疑似泄露&quot;让你人工排查：是不是真的？还能用吗？是谁的？——后续全靠人肉。&#13;&#10;        &lt;/Text&gt;&#13;&#10;      &lt;/Box&gt;&#13;&#10;      &lt;Box style={{ flex: 1, background: '#F8FAFC', borderRadius: 12, padding: 22, border: '1px solid #E2E8F0' }}&gt;&#13;&#10;        &lt;Text style={{ fontSize: 20, fontWeight: 'bold', color: '#0F172A' }}&gt;不告诉你怎么办&lt;/Text&gt;&#13;&#10;        &lt;Text style={{ fontSize: 17, color: '#475569', lineHeight: 1.6, marginTop: 10 }}&gt;&#13;&#10;          没有归属识别、没有处置建议。凭迹把响应从&quot;发现即删&quot;升级为&quot;定位→吊销→根因→复核&quot;。&#13;&#10;        &lt;/Text&gt;&#13;&#10;      &lt;/Box&gt;&#13;&#10;    &lt;/Box&gt;&#13;&#10;    &lt;Box style={{ height: 100, flexDirection: 'row', alignItems: 'center', gap: 18, background: '#FFFBEB', borderRadius: 12, padding: '0 28px', border: '1px solid #FDE68A' }}&gt;&#13;&#10;      &lt;FAIcon name='bullseye' style={{ fill: '#F59E0B', width: 34, height: 34 }} /&gt;&#13;&#10;      &lt;Text style={{ fontSize: 20, color: '#334155' }}&gt;&#13;&#10;        这三个&quot;差&quot;，正好一一对应赛题的评分维度——&lt;Text style={{ fontWeight: 'bold' }}&gt;下面逐层拆开凭迹是怎么补上的。&lt;/Text&gt;&#13;&#10;      &lt;/Text&gt;&#13;&#10;    &lt;/Box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2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我们做了什么，为什么要做它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666750" y="952500"/>
            <a:ext cx="10858500" cy="133350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933450" y="1200150"/>
            <a:ext cx="10325100" cy="847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凭迹</a:t>
            </a:r>
            <a:r>
              <a:rPr lang="en-US" sz="1725">
                <a:solidFill>
                  <a:srgbClr val="1E3A5F"/>
                </a:solidFill>
                <a:latin typeface="思源黑体"/>
                <a:ea typeface="思源黑体"/>
              </a:rPr>
              <a:t> = 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泄露雷达</a:t>
            </a:r>
            <a:r>
              <a:rPr lang="en-US" sz="1725">
                <a:solidFill>
                  <a:srgbClr val="1E3A5F"/>
                </a:solidFill>
                <a:latin typeface="思源黑体"/>
                <a:ea typeface="思源黑体"/>
              </a:rPr>
              <a:t> + 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报警器：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持续监测</a:t>
            </a:r>
            <a:r>
              <a:rPr lang="en-US" sz="1725">
                <a:solidFill>
                  <a:srgbClr val="1E3A5F"/>
                </a:solidFill>
                <a:latin typeface="思源黑体"/>
                <a:ea typeface="思源黑体"/>
              </a:rPr>
              <a:t> 17 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类公开渠道，自动发现暴露的云凭据，</a:t>
            </a:r>
            <a:r>
              <a:rPr lang="en-US" sz="1725">
                <a:solidFill>
                  <a:srgbClr val="1E3A5F"/>
                </a:solidFill>
                <a:latin typeface="思源黑体"/>
                <a:ea typeface="思源黑体"/>
              </a:rPr>
              <a:t> 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并回答三个现有工具答不了的问题——</a:t>
            </a:r>
            <a:r>
              <a:rPr lang="zh-CN" sz="1725">
                <a:solidFill>
                  <a:srgbClr val="1E3A5F"/>
                </a:solidFill>
                <a:latin typeface="思源黑体"/>
                <a:ea typeface="思源黑体"/>
              </a:rPr>
              <a:t>它还能用吗？它是谁的？该怎么处置？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66750" y="2495550"/>
            <a:ext cx="10858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已有的工具不够用，差在这三处：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66750" y="2952750"/>
            <a:ext cx="3495675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6300" y="31623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只盯着一个仓库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6300" y="3486150"/>
            <a:ext cx="3076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传统扫描器（如各类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CI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密钥扫描）只查自己的代码仓库——可钥匙漏在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别人家院子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（公开渠道）里，它看不见。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4352925" y="2952750"/>
            <a:ext cx="3486150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562475" y="3162300"/>
            <a:ext cx="3067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只会喊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疑似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62475" y="3486150"/>
            <a:ext cx="30670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报一堆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疑似泄露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让你人工排查：是不是真的？还能用吗？是谁的？——后续全靠人肉。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029575" y="2952750"/>
            <a:ext cx="3495675" cy="180975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239125" y="3162300"/>
            <a:ext cx="3076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不告诉你怎么办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239125" y="3486150"/>
            <a:ext cx="30765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没有归属识别、没有处置建议。凭迹把响应从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发现即删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升级为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定位→吊销→根因→复核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666750" y="4972050"/>
            <a:ext cx="10858500" cy="952500"/>
          </a:xfrm>
          <a:prstGeom prst="roundRect">
            <a:avLst>
              <a:gd name="adj" fmla="val 1200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3450" y="5286375"/>
            <a:ext cx="323850" cy="323850"/>
          </a:xfrm>
          <a:prstGeom prst="rect">
            <a:avLst/>
          </a:prstGeom>
          <a:ln/>
        </p:spPr>
      </p:pic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428750" y="5334000"/>
            <a:ext cx="6867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这三个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差</a:t>
            </a:r>
            <a:r>
              <a:rPr lang="en-US" sz="150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，正好一一对应赛题的评分维度——</a:t>
            </a:r>
            <a:r>
              <a:rPr lang="zh-CN" sz="1500">
                <a:solidFill>
                  <a:srgbClr val="334155"/>
                </a:solidFill>
                <a:latin typeface="思源黑体"/>
                <a:ea typeface="思源黑体"/>
              </a:rPr>
              <a:t>下面逐层拆开凭迹是怎么补上的。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02 / 11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68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五层流水线：从&quot;网页&quot;到&quot;告警&quot;&lt;/Text&gt;&#13;&#10;  &lt;/Box&gt;&#13;&#10;  &lt;Box style={{ height: 540, gap: 16 }}&gt;&#13;&#10;    &lt;Box style={{ height: 84, background: 'linear-gradient(135deg, #3B82F6 0%, #2563EB 100%)', borderRadius: 10, padding: '0 26px', flexDirection: 'row', alignItems: 'center', gap: 18 }}&gt;&#13;&#10;      &lt;Text style={{ fontSize: 30, fontWeight: 'bold', color: '#FFFFFF', width: 50 }}&gt;1&lt;/Text&gt;&#13;&#10;      &lt;Box style={{ flex: 1 }}&gt;&#13;&#10;        &lt;Text style={{ fontSize: 21, fontWeight: 'bold', color: '#FFFFFF' }}&gt;采集层 — 17 个公开渠道，插件化注册&lt;/Text&gt;&#13;&#10;        &lt;Text style={{ fontSize: 15, color: '#DBEAFE' }}&gt;代码托管 / Paste 站 / 包仓库 / 容器镜像 / Wiki / App 与小程序包 / 本地内网……新增渠道只需实现 1 个方法&lt;/Text&gt;&#13;&#10;      &lt;/Box&gt;&#13;&#10;    &lt;/Box&gt;&#13;&#10;    &lt;Box style={{ height: 84, background: 'linear-gradient(135deg, #0EA5E9 0%, #0284C7 100%)', borderRadius: 10, padding: '0 26px', flexDirection: 'row', alignItems: 'center', gap: 18 }}&gt;&#13;&#10;      &lt;Text style={{ fontSize: 30, fontWeight: 'bold', color: '#FFFFFF', width: 50 }}&gt;2&lt;/Text&gt;&#13;&#10;      &lt;Box style={{ flex: 1 }}&gt;&#13;&#10;        &lt;Text style={{ fontSize: 21, fontWeight: 'bold', color: '#FFFFFF' }}&gt;解析层 — 什么文件都能&quot;读出字来&quot;&lt;/Text&gt;&#13;&#10;        &lt;Text style={{ fontSize: 15, color: '#E0F2FE' }}&gt;文本抽取 + 归档解包（zip/tar.gz）+ 镜像层逐层解包 + 小程序包解包 + APK 字符串提取&lt;/Text&gt;&#13;&#10;      &lt;/Box&gt;&#13;&#10;    &lt;/Box&gt;&#13;&#10;    &lt;Box style={{ height: 84, background: 'linear-gradient(135deg, #06B6D4 0%, #0891B2 100%)', borderRadius: 10, padding: '0 26px', flexDirection: 'row', alignItems: 'center', gap: 18 }}&gt;&#13;&#10;      &lt;Text style={{ fontSize: 30, fontWeight: 'bold', color: '#FFFFFF', width: 50 }}&gt;3&lt;/Text&gt;&#13;&#10;      &lt;Box style={{ flex: 1 }}&gt;&#13;&#10;        &lt;Text style={{ fontSize: 21, fontWeight: 'bold', color: '#FFFFFF' }}&gt;检测层 — 四层收敛，层层排除假信号&lt;/Text&gt;&#13;&#10;        &lt;Text style={{ fontSize: 15, color: '#CFFAFE' }}&gt;规则 / 结构化 / 熵命中 → 占位符过滤 → 可解释概率评分 → 验证凭据是否仍可用&lt;/Text&gt;&#13;&#10;      &lt;/Box&gt;&#13;&#10;    &lt;/Box&gt;&#13;&#10;    &lt;Box style={{ height: 84, background: 'linear-gradient(135deg, #14B8A6 0%, #0D9488 100%)', borderRadius: 10, padding: '0 26px', flexDirection: 'row', alignItems: 'center', gap: 18 }}&gt;&#13;&#10;      &lt;Text style={{ fontSize: 30, fontWeight: 'bold', color: '#FFFFFF', width: 50 }}&gt;4&lt;/Text&gt;&#13;&#10;      &lt;Box style={{ flex: 1 }}&gt;&#13;&#10;        &lt;Text style={{ fontSize: 21, fontWeight: 'bold', color: '#FFFFFF' }}&gt;验证层 — 16 个只读&quot;验活器&quot;&lt;/Text&gt;&#13;&#10;        &lt;Text style={{ fontSize: 15, color: '#CCFBF1' }}&gt;只调用平台的只读身份接口，确认凭据&quot;是否仍有效&quot;——云签名算法（AWS SigV4 / 阿里云 / 腾讯云）自实现，默认关闭、全局限速&lt;/Text&gt;&#13;&#10;      &lt;/Box&gt;&#13;&#10;    &lt;/Box&gt;&#13;&#10;    &lt;Box style={{ height: 84, background: 'linear-gradient(135deg, #22C55E 0%, #16A34A 100%)', borderRadius: 10, padding: '0 26px', flexDirection: 'row', alignItems: 'center', gap: 18 }}&gt;&#13;&#10;      &lt;Text style={{ fontSize: 30, fontWeight: 'bold', color: '#FFFFFF', width: 50 }}&gt;5&lt;/Text&gt;&#13;&#10;      &lt;Box style={{ flex: 1 }}&gt;&#13;&#10;        &lt;Text style={{ fontSize: 21, fontWeight: 'bold', color: '#FFFFFF' }}&gt;输出层 — 从&quot;发现&quot;到&quot;能行动&quot;&lt;/Text&gt;&#13;&#10;        &lt;Text style={{ fontSize: 15, color: '#DCFCE7' }}&gt;指纹去重 + 凭据对关联 + 归属识别 + 处置建议（可复制代码片段）+ MTTD 时效统计 + 可视化看板&lt;/Text&gt;&#13;&#10;      &lt;/Box&gt;&#13;&#10;    &lt;/Box&gt;&#13;&#10;    &lt;Text style={{ fontSize: 15, color: '#94A3B8' }}&gt;技术栈：Python 3.12 + SQLite（可选 PostgreSQL）+ Streamlit 看板，65 个单元测试全部通过&lt;/Text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3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4562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五层流水线：从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网页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到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告警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66750" y="952500"/>
            <a:ext cx="108585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3B82F6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14400" y="11811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1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1562100" y="1143000"/>
            <a:ext cx="971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采集层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— 17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个公开渠道，插件化注册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562100" y="1390650"/>
            <a:ext cx="971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代码托管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/ Paste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站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包仓库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容器镜像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/ Wiki / App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与小程序包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本地内网……新增渠道只需实现</a:t>
            </a:r>
            <a:r>
              <a:rPr lang="en-US" sz="1125">
                <a:solidFill>
                  <a:srgbClr val="DBEAFE"/>
                </a:solidFill>
                <a:latin typeface="思源黑体"/>
                <a:ea typeface="思源黑体"/>
              </a:rPr>
              <a:t> 1 </a:t>
            </a:r>
            <a:r>
              <a:rPr lang="zh-CN" sz="1125">
                <a:solidFill>
                  <a:srgbClr val="DBEAFE"/>
                </a:solidFill>
                <a:latin typeface="思源黑体"/>
                <a:ea typeface="思源黑体"/>
              </a:rPr>
              <a:t>个方法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66750" y="1905000"/>
            <a:ext cx="108585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0EA5E9"/>
              </a:gs>
              <a:gs pos="100000">
                <a:srgbClr val="0284C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914400" y="21336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2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562100" y="2095500"/>
            <a:ext cx="971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解析层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—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什么文件都能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读出字来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562100" y="2343150"/>
            <a:ext cx="971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文本抽取</a:t>
            </a:r>
            <a:r>
              <a:rPr lang="en-US" sz="1125">
                <a:solidFill>
                  <a:srgbClr val="E0F2FE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归档解包（</a:t>
            </a:r>
            <a:r>
              <a:rPr lang="en-US" sz="1125">
                <a:solidFill>
                  <a:srgbClr val="E0F2FE"/>
                </a:solidFill>
                <a:latin typeface="思源黑体"/>
                <a:ea typeface="思源黑体"/>
              </a:rPr>
              <a:t>zip/tar.gz</a:t>
            </a: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）</a:t>
            </a:r>
            <a:r>
              <a:rPr lang="en-US" sz="1125">
                <a:solidFill>
                  <a:srgbClr val="E0F2FE"/>
                </a:solidFill>
                <a:latin typeface="思源黑体"/>
                <a:ea typeface="思源黑体"/>
              </a:rPr>
              <a:t>+ </a:t>
            </a: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镜像层逐层解包</a:t>
            </a:r>
            <a:r>
              <a:rPr lang="en-US" sz="1125">
                <a:solidFill>
                  <a:srgbClr val="E0F2FE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小程序包解包</a:t>
            </a:r>
            <a:r>
              <a:rPr lang="en-US" sz="1125">
                <a:solidFill>
                  <a:srgbClr val="E0F2FE"/>
                </a:solidFill>
                <a:latin typeface="思源黑体"/>
                <a:ea typeface="思源黑体"/>
              </a:rPr>
              <a:t> + APK </a:t>
            </a:r>
            <a:r>
              <a:rPr lang="zh-CN" sz="1125">
                <a:solidFill>
                  <a:srgbClr val="E0F2FE"/>
                </a:solidFill>
                <a:latin typeface="思源黑体"/>
                <a:ea typeface="思源黑体"/>
              </a:rPr>
              <a:t>字符串提取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66750" y="2857500"/>
            <a:ext cx="108585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06B6D4"/>
              </a:gs>
              <a:gs pos="100000">
                <a:srgbClr val="0891B2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14400" y="30861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3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1562100" y="3048000"/>
            <a:ext cx="971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检测层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—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四层收敛，层层排除假信号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562100" y="3295650"/>
            <a:ext cx="971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规则</a:t>
            </a:r>
            <a:r>
              <a:rPr lang="en-US" sz="1125">
                <a:solidFill>
                  <a:srgbClr val="CFFAFE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结构化</a:t>
            </a:r>
            <a:r>
              <a:rPr lang="en-US" sz="1125">
                <a:solidFill>
                  <a:srgbClr val="CFFAFE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熵命中</a:t>
            </a:r>
            <a:r>
              <a:rPr lang="en-US" sz="1125">
                <a:solidFill>
                  <a:srgbClr val="CFFAFE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占位符过滤</a:t>
            </a:r>
            <a:r>
              <a:rPr lang="en-US" sz="1125">
                <a:solidFill>
                  <a:srgbClr val="CFFAFE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可解释概率评分</a:t>
            </a:r>
            <a:r>
              <a:rPr lang="en-US" sz="1125">
                <a:solidFill>
                  <a:srgbClr val="CFFAFE"/>
                </a:solidFill>
                <a:latin typeface="思源黑体"/>
                <a:ea typeface="思源黑体"/>
              </a:rPr>
              <a:t> → </a:t>
            </a:r>
            <a:r>
              <a:rPr lang="zh-CN" sz="1125">
                <a:solidFill>
                  <a:srgbClr val="CFFAFE"/>
                </a:solidFill>
                <a:latin typeface="思源黑体"/>
                <a:ea typeface="思源黑体"/>
              </a:rPr>
              <a:t>验证凭据是否仍可用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66750" y="3810000"/>
            <a:ext cx="108585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14B8A6"/>
              </a:gs>
              <a:gs pos="100000">
                <a:srgbClr val="0D948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14400" y="40386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562100" y="4000500"/>
            <a:ext cx="971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验证层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— 16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个只读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验活器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562100" y="4248150"/>
            <a:ext cx="971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CFBF1"/>
                </a:solidFill>
                <a:latin typeface="思源黑体"/>
                <a:ea typeface="思源黑体"/>
              </a:rPr>
              <a:t>只调用平台的只读身份接口，确认凭据</a:t>
            </a:r>
            <a:r>
              <a:rPr lang="en-US" sz="1125">
                <a:solidFill>
                  <a:srgbClr val="CCFBF1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CCFBF1"/>
                </a:solidFill>
                <a:latin typeface="思源黑体"/>
                <a:ea typeface="思源黑体"/>
              </a:rPr>
              <a:t>是否仍有效</a:t>
            </a:r>
            <a:r>
              <a:rPr lang="en-US" sz="1125">
                <a:solidFill>
                  <a:srgbClr val="CCFBF1"/>
                </a:solidFill>
                <a:latin typeface="思源黑体"/>
                <a:ea typeface="思源黑体"/>
              </a:rPr>
              <a:t>"——</a:t>
            </a:r>
            <a:r>
              <a:rPr lang="zh-CN" sz="1125">
                <a:solidFill>
                  <a:srgbClr val="CCFBF1"/>
                </a:solidFill>
                <a:latin typeface="思源黑体"/>
                <a:ea typeface="思源黑体"/>
              </a:rPr>
              <a:t>云签名算法（</a:t>
            </a:r>
            <a:r>
              <a:rPr lang="en-US" sz="1125">
                <a:solidFill>
                  <a:srgbClr val="CCFBF1"/>
                </a:solidFill>
                <a:latin typeface="思源黑体"/>
                <a:ea typeface="思源黑体"/>
              </a:rPr>
              <a:t>AWS SigV4 / </a:t>
            </a:r>
            <a:r>
              <a:rPr lang="zh-CN" sz="1125">
                <a:solidFill>
                  <a:srgbClr val="CCFBF1"/>
                </a:solidFill>
                <a:latin typeface="思源黑体"/>
                <a:ea typeface="思源黑体"/>
              </a:rPr>
              <a:t>阿里云</a:t>
            </a:r>
            <a:r>
              <a:rPr lang="en-US" sz="1125">
                <a:solidFill>
                  <a:srgbClr val="CCFBF1"/>
                </a:solidFill>
                <a:latin typeface="思源黑体"/>
                <a:ea typeface="思源黑体"/>
              </a:rPr>
              <a:t> / </a:t>
            </a:r>
            <a:r>
              <a:rPr lang="zh-CN" sz="1125">
                <a:solidFill>
                  <a:srgbClr val="CCFBF1"/>
                </a:solidFill>
                <a:latin typeface="思源黑体"/>
                <a:ea typeface="思源黑体"/>
              </a:rPr>
              <a:t>腾讯云）自实现，默认关闭、全局限速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66750" y="4762500"/>
            <a:ext cx="10858500" cy="800100"/>
          </a:xfrm>
          <a:prstGeom prst="roundRect">
            <a:avLst>
              <a:gd name="adj" fmla="val 11905"/>
            </a:avLst>
          </a:prstGeom>
          <a:gradFill>
            <a:gsLst>
              <a:gs pos="0">
                <a:srgbClr val="22C55E"/>
              </a:gs>
              <a:gs pos="100000">
                <a:srgbClr val="16A34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914400" y="4991100"/>
            <a:ext cx="476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5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562100" y="4953000"/>
            <a:ext cx="9715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输出层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 — 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从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发现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到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1575" b="1">
                <a:solidFill>
                  <a:srgbClr val="FFFFFF"/>
                </a:solidFill>
                <a:latin typeface="思源黑体"/>
                <a:ea typeface="思源黑体"/>
              </a:rPr>
              <a:t>能行动</a:t>
            </a:r>
            <a:r>
              <a:rPr lang="en-US" sz="1575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562100" y="5200650"/>
            <a:ext cx="9715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指纹去重</a:t>
            </a:r>
            <a:r>
              <a:rPr lang="en-US" sz="1125">
                <a:solidFill>
                  <a:srgbClr val="DCFCE7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凭据对关联</a:t>
            </a:r>
            <a:r>
              <a:rPr lang="en-US" sz="1125">
                <a:solidFill>
                  <a:srgbClr val="DCFCE7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归属识别</a:t>
            </a:r>
            <a:r>
              <a:rPr lang="en-US" sz="1125">
                <a:solidFill>
                  <a:srgbClr val="DCFCE7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处置建议（可复制代码片段）</a:t>
            </a:r>
            <a:r>
              <a:rPr lang="en-US" sz="1125">
                <a:solidFill>
                  <a:srgbClr val="DCFCE7"/>
                </a:solidFill>
                <a:latin typeface="思源黑体"/>
                <a:ea typeface="思源黑体"/>
              </a:rPr>
              <a:t>+ MTTD </a:t>
            </a: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时效统计</a:t>
            </a:r>
            <a:r>
              <a:rPr lang="en-US" sz="1125">
                <a:solidFill>
                  <a:srgbClr val="DCFCE7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DCFCE7"/>
                </a:solidFill>
                <a:latin typeface="思源黑体"/>
                <a:ea typeface="思源黑体"/>
              </a:rPr>
              <a:t>可视化看板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66750" y="5715000"/>
            <a:ext cx="1085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技术栈：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>Python 3.12 + SQLite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（可选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> PostgreSQL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）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>+ Streamlit 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看板，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>65 </a:t>
            </a: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个单元测试全部通过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03 / 11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95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四层收敛漏斗：从 2639 条噪声里筛出 165 个真凭据&lt;/Text&gt;&#13;&#10;  &lt;/Box&gt;&#13;&#10;  &lt;Box style={{ height: 540, gap: 14 }}&gt;&#13;&#10;    &lt;Text style={{ fontSize: 19, color: '#475569' }}&gt;以第三轮真实实测（1200 份公开渠道文档）为例——每一层都在&quot;排除假信号&quot;，这是低误报的核心：&lt;/Text&gt;&#13;&#10;    &lt;Box style={{ flexDirection: 'row', alignItems: 'center', gap: 26 }}&gt;&#13;&#10;      &lt;Box style={{ flex: 1, gap: 12 }}&gt;&#13;&#10;        &lt;Box style={{ width: '100%', height: 78, background: 'linear-gradient(135deg,#3B82F6,#60A5FA)', borderRadius: 10, padding: '0 24px', flexDirection: 'row', alignItems: 'center', justifyContent: 'space-between' }}&gt;&#13;&#10;          &lt;Text style={{ fontSize: 20, fontWeight: 'bold', color: '#FFFFFF' }}&gt;① 格式命中候选&lt;/Text&gt;&#13;&#10;          &lt;Text style={{ fontSize: 30, fontWeight: 'bold', color: '#FFFFFF' }}&gt;32088&lt;/Text&gt;&#13;&#10;        &lt;/Box&gt;&#13;&#10;        &lt;Box style={{ width: '72%', height: 78, background: 'linear-gradient(135deg,#0EA5E9,#38BDF8)', borderRadius: 10, padding: '0 24px', flexDirection: 'row', alignItems: 'center', justifyContent: 'space-between' }}&gt;&#13;&#10;          &lt;Text style={{ fontSize: 20, fontWeight: 'bold', color: '#FFFFFF' }}&gt;② 上下文确认&lt;/Text&gt;&#13;&#10;          &lt;Text style={{ fontSize: 30, fontWeight: 'bold', color: '#FFFFFF' }}&gt;334&lt;/Text&gt;&#13;&#10;        &lt;/Box&gt;&#13;&#10;        &lt;Box style={{ width: '46%', height: 78, background: 'linear-gradient(135deg,#06B6D4,#22D3EE)', borderRadius: 10, padding: '0 24px', flexDirection: 'row', alignItems: 'center', justifyContent: 'space-between' }}&gt;&#13;&#10;          &lt;Text style={{ fontSize: 20, fontWeight: 'bold', color: '#FFFFFF' }}&gt;③ 去重后发现&lt;/Text&gt;&#13;&#10;          &lt;Text style={{ fontSize: 30, fontWeight: 'bold', color: '#FFFFFF' }}&gt;178&lt;/Text&gt;&#13;&#10;        &lt;/Box&gt;&#13;&#10;        &lt;Box style={{ width: '30%', height: 78, background: 'linear-gradient(135deg,#22C55E,#4ADE80)', borderRadius: 10, padding: '0 24px', flexDirection: 'row', alignItems: 'center', justifyContent: 'space-between' }}&gt;&#13;&#10;          &lt;Text style={{ fontSize: 20, fontWeight: 'bold', color: '#FFFFFF' }}&gt;④ 关联升级&lt;/Text&gt;&#13;&#10;          &lt;Text style={{ fontSize: 30, fontWeight: 'bold', color: '#FFFFFF' }}&gt;165&lt;/Text&gt;&#13;&#10;        &lt;/Box&gt;&#13;&#10;      &lt;/Box&gt;&#13;&#10;      &lt;Box style={{ width: 380, gap: 14 }}&gt;&#13;&#10;        &lt;Box style={{ background: '#F8FAFC', borderRadius: 10, padding: 16, border: '1px solid #E2E8F0' }}&gt;&#13;&#10;          &lt;Text style={{ fontSize: 17, fontWeight: 'bold', color: '#0F172A' }}&gt;每层在做什么&lt;/Text&gt;&#13;&#10;          &lt;Text style={{ fontSize: 15, color: '#475569', lineHeight: 1.6, marginTop: 6 }}&gt;&#13;&#10;            ①195 条规则粗筛（格式长得像凭据）{'\n'}&#13;&#10;            ②看附近有没有&quot;password=、云厂商名&quot;等情证{'\n'}&#13;&#10;            ③HMAC 指纹去重 + 可解释概率评分{'\n'}&#13;&#10;            ④成对凭据关联升级为最高风险&#13;&#10;          &lt;/Text&gt;&#13;&#10;        &lt;/Box&gt;&#13;&#10;        &lt;Box style={{ background: '#FFFBEB', borderRadius: 10, padding: 16, border: '1px solid #FDE68A' }}&gt;&#13;&#10;          &lt;Text style={{ fontSize: 17, fontWeight: 'bold', color: '#0F172A' }}&gt;收敛比 ≈ 1 : 194&lt;/Text&gt;&#13;&#10;          &lt;Text style={{ fontSize: 15, color: '#475569', lineHeight: 1.6, marginTop: 6 }}&gt;&#13;&#10;            每漏斗一次，噪声被砍掉 99.5%——误报控制的硬功夫全在这四层里。&#13;&#10;          &lt;/Text&gt;&#13;&#10;        &lt;/Box&gt;&#13;&#10;      &lt;/Box&gt;&#13;&#10;    &lt;/Box&gt;&#13;&#10;    &lt;Box style={{ height: 64, background: '#F8FAFC', borderRadius: 10, padding: '0 24px', alignItems: 'center', flexDirection: 'row', border: '1px solid #E2E8F0' }}&gt;&#13;&#10;      &lt;FAIcon name='shield-alt' style={{ fill: '#06B6D4', width: 26, height: 26 }} /&gt;&#13;&#10;      &lt;Text style={{ fontSize: 17, color: '#334155', marginLeft: 12 }}&gt;&#13;&#10;        1200 份文档、46.3 MB，整轮扫描只要 &lt;Text style={{ fontWeight: 'bold', color: '#3B82F6' }}&gt;6.5 秒&lt;/Text&gt;——快，才有资格谈&quot;分钟级发现&quot;。&#13;&#10;      &lt;/Text&gt;&#13;&#10;    &lt;/Box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4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76200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四层收敛漏斗：从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2639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条噪声里筛出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165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个真凭据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66750" y="952500"/>
            <a:ext cx="1085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以第三轮真实实测（</a:t>
            </a:r>
            <a:r>
              <a:rPr lang="en-US" sz="1425">
                <a:solidFill>
                  <a:srgbClr val="475569"/>
                </a:solidFill>
                <a:latin typeface="思源黑体"/>
                <a:ea typeface="思源黑体"/>
              </a:rPr>
              <a:t>1200 </a:t>
            </a: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份公开渠道文档）为例——每一层都在</a:t>
            </a:r>
            <a:r>
              <a:rPr lang="en-US" sz="142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排除假信号</a:t>
            </a:r>
            <a:r>
              <a:rPr lang="en-US" sz="142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，这是低误报的核心：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66750" y="1304925"/>
            <a:ext cx="699135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3B82F6"/>
              </a:gs>
              <a:gs pos="100000">
                <a:srgbClr val="60A5F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895350" y="1562100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①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格式命中候选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6543675" y="1504950"/>
            <a:ext cx="8858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32088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666750" y="2162175"/>
            <a:ext cx="50292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EA5E9"/>
              </a:gs>
              <a:gs pos="100000">
                <a:srgbClr val="38BDF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95350" y="2419350"/>
            <a:ext cx="1200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②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上下文确认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933950" y="23622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334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666750" y="3019425"/>
            <a:ext cx="321945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06B6D4"/>
              </a:gs>
              <a:gs pos="100000">
                <a:srgbClr val="22D3EE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3276600"/>
            <a:ext cx="1200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③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去重后发现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124200" y="321945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178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66750" y="3876675"/>
            <a:ext cx="2095500" cy="742950"/>
          </a:xfrm>
          <a:prstGeom prst="roundRect">
            <a:avLst>
              <a:gd name="adj" fmla="val 12821"/>
            </a:avLst>
          </a:prstGeom>
          <a:gradFill>
            <a:gsLst>
              <a:gs pos="0">
                <a:srgbClr val="22C55E"/>
              </a:gs>
              <a:gs pos="100000">
                <a:srgbClr val="4ADE80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95350" y="4133850"/>
            <a:ext cx="1009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④ </a:t>
            </a:r>
            <a:r>
              <a:rPr lang="zh-CN" sz="1500" b="1">
                <a:solidFill>
                  <a:srgbClr val="FFFFFF"/>
                </a:solidFill>
                <a:latin typeface="思源黑体"/>
                <a:ea typeface="思源黑体"/>
              </a:rPr>
              <a:t>关联升级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2000250" y="4076700"/>
            <a:ext cx="5334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思源黑体"/>
                <a:ea typeface="思源黑体"/>
              </a:rPr>
              <a:t>165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7905750" y="1504950"/>
            <a:ext cx="3619500" cy="166687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058150" y="1657350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思源黑体"/>
                <a:ea typeface="思源黑体"/>
              </a:rPr>
              <a:t>每层在做什么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058150" y="1914525"/>
            <a:ext cx="3314700" cy="11049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①195 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条规则粗筛（格式长得像凭据）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②看附近有没有</a:t>
            </a: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"password=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、云厂商名</a:t>
            </a: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等情证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③HMAC 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指纹去重</a:t>
            </a: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 + 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可解释概率评分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④成对凭据关联升级为最高风险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905750" y="3305175"/>
            <a:ext cx="3619500" cy="1114425"/>
          </a:xfrm>
          <a:prstGeom prst="roundRect">
            <a:avLst>
              <a:gd name="adj" fmla="val 8547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058150" y="3457575"/>
            <a:ext cx="3314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172A"/>
                </a:solidFill>
                <a:latin typeface="思源黑体"/>
                <a:ea typeface="思源黑体"/>
              </a:rPr>
              <a:t>收敛比</a:t>
            </a:r>
            <a:r>
              <a:rPr lang="en-US" sz="1275" b="1">
                <a:solidFill>
                  <a:srgbClr val="0F172A"/>
                </a:solidFill>
                <a:latin typeface="思源黑体"/>
                <a:ea typeface="思源黑体"/>
              </a:rPr>
              <a:t> ≈ 1 : 194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058150" y="3714750"/>
            <a:ext cx="33147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每漏斗一次，噪声被砍掉</a:t>
            </a:r>
            <a:r>
              <a:rPr lang="en-US" sz="1125">
                <a:solidFill>
                  <a:srgbClr val="475569"/>
                </a:solidFill>
                <a:latin typeface="思源黑体"/>
                <a:ea typeface="思源黑体"/>
              </a:rPr>
              <a:t> 99.5%——</a:t>
            </a:r>
            <a:r>
              <a:rPr lang="zh-CN" sz="1125">
                <a:solidFill>
                  <a:srgbClr val="475569"/>
                </a:solidFill>
                <a:latin typeface="思源黑体"/>
                <a:ea typeface="思源黑体"/>
              </a:rPr>
              <a:t>误报控制的硬功夫全在这四层里。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666750" y="4752975"/>
            <a:ext cx="10858500" cy="60960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4933950"/>
            <a:ext cx="247650" cy="247650"/>
          </a:xfrm>
          <a:prstGeom prst="rect">
            <a:avLst/>
          </a:prstGeom>
          <a:ln/>
        </p:spPr>
      </p:pic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257300" y="4962525"/>
            <a:ext cx="592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1200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份文档、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46.3 MB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，整轮扫描只要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6.5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秒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——快，才有资格谈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分钟级发现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04 / 11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3" name="" descr="&lt;Slide style={{ width: 1280, height: 720, background: '#0F172A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06B6D4', borderRadius: 2 }} /&gt;&#13;&#10;    &lt;Text style={{ fontSize: 34, fontWeight: 'bold', color: '#FFFFFF' }}&gt;凭迹的&quot;体格&quot;：四个数字&lt;/Text&gt;&#13;&#10;  &lt;/Box&gt;&#13;&#10;  &lt;Box style={{ height: 540, gap: 20 }}&gt;&#13;&#10;    &lt;Box style={{ flexDirection: 'row', gap: 20, height: 250 }}&gt;&#13;&#10;      &lt;Box style={{ flex: 1, background: 'rgba(59,130,246,0.10)', borderRadius: 14, padding: 24, border: '1px solid rgba(59,130,246,0.45)' }}&gt;&#13;&#10;        &lt;Text style={{ fontSize: 15, color: '#93C5FD', letterSpacing: 2 }}&gt;监控渠道&lt;/Text&gt;&#13;&#10;        &lt;Text style={{ fontSize: 78, fontWeight: 'bold', color: '#3B82F6', lineHeight: 1.05, marginTop: 8 }}&gt;17&lt;/Text&gt;&#13;&#10;        &lt;Text style={{ fontSize: 16, color: '#CBD5E1', lineHeight: 1.5, marginTop: 8 }}&gt;覆盖 11 类公开平台，插件化架构——新增渠道 = 实现 1 个方法&lt;/Text&gt;&#13;&#10;      &lt;/Box&gt;&#13;&#10;      &lt;Box style={{ flex: 1, background: 'rgba(6,182,212,0.10)', borderRadius: 14, padding: 24, border: '1px solid rgba(6,182,212,0.45)' }}&gt;&#13;&#10;        &lt;Text style={{ fontSize: 15, color: '#67E8F9', letterSpacing: 2 }}&gt;检测规则&lt;/Text&gt;&#13;&#10;        &lt;Text style={{ fontSize: 78, fontWeight: 'bold', color: '#06B6D4', lineHeight: 1.05, marginTop: 8 }}&gt;195&lt;/Text&gt;&#13;&#10;        &lt;Text style={{ fontSize: 16, color: '#CBD5E1', lineHeight: 1.5, marginTop: 8 }}&gt;全部自研 YAML 规则，每条带&quot;为什么判为真&quot;的解释依据&lt;/Text&gt;&#13;&#10;      &lt;/Box&gt;&#13;&#10;    &lt;/Box&gt;&#13;&#10;    &lt;Box style={{ flexDirection: 'row', gap: 20, height: 250 }}&gt;&#13;&#10;      &lt;Box style={{ flex: 1, background: 'rgba(245,158,11,0.12)', borderRadius: 14, padding: 24, border: '1px solid rgba(245,158,11,0.5)' }}&gt;&#13;&#10;        &lt;Text style={{ fontSize: 15, color: '#FCD34D', letterSpacing: 2 }}&gt;凭据类型&lt;/Text&gt;&#13;&#10;        &lt;Text style={{ fontSize: 78, fontWeight: 'bold', color: '#F59E0B', lineHeight: 1.05, marginTop: 8 }}&gt;59&lt;/Text&gt;&#13;&#10;        &lt;Text style={{ fontSize: 16, color: '#CBD5E1', lineHeight: 1.5, marginTop: 8 }}&gt;7 大类：云 AK、API Token、支付密钥、数据库、SSH 私钥、数字资产……&lt;/Text&gt;&#13;&#10;      &lt;/Box&gt;&#13;&#10;      &lt;Box style={{ flex: 1, background: 'rgba(34,197,94,0.10)', borderRadius: 14, padding: 24, border: '1px solid rgba(34,197,94,0.45)' }}&gt;&#13;&#10;        &lt;Text style={{ fontSize: 15, color: '#86EFAC', letterSpacing: 2 }}&gt;只读验活器&lt;/Text&gt;&#13;&#10;        &lt;Text style={{ fontSize: 78, fontWeight: 'bold', color: '#22C55E', lineHeight: 1.05, marginTop: 8 }}&gt;16&lt;/Text&gt;&#13;&#10;        &lt;Text style={{ fontSize: 16, color: '#CBD5E1', lineHeight: 1.5, marginTop: 8 }}&gt;确认凭据&quot;是否仍可用&quot;——云签名算法自实现，默认关闭、全局限速&lt;/Text&gt;&#13;&#10;      &lt;/Box&gt;&#13;&#10;    &lt;/Box&gt;&#13;&#10;  &lt;/Box&gt;&#13;&#10;  &lt;Box style={{ height: 40, flexDirection: 'row', justifyContent: 'space-between', alignItems: 'center' }}&gt;&#13;&#10;    &lt;Text style={{ fontSize: 13, color: '#64748B' }}&gt;凭迹 CredWatch · 项目解读&lt;/Text&gt;&#13;&#10;    &lt;Text style={{ fontSize: 13, color: '#64748B' }}&gt;05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3581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凭迹的</a:t>
            </a: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体格</a:t>
            </a:r>
            <a:r>
              <a:rPr lang="en-US" sz="2550" b="1">
                <a:solidFill>
                  <a:srgbClr val="FFFFFF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：四个数字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66750" y="952500"/>
            <a:ext cx="5334000" cy="2381250"/>
          </a:xfrm>
          <a:prstGeom prst="roundRect">
            <a:avLst>
              <a:gd name="adj" fmla="val 56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895350" y="11811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93C5FD"/>
                </a:solidFill>
                <a:latin typeface="思源黑体"/>
                <a:ea typeface="思源黑体"/>
              </a:rPr>
              <a:t>监控渠道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895350" y="1428750"/>
            <a:ext cx="4876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3B82F6"/>
                </a:solidFill>
                <a:latin typeface="思源黑体"/>
                <a:ea typeface="思源黑体"/>
              </a:rPr>
              <a:t>17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895350" y="24479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覆盖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11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类公开平台，插件化架构——新增渠道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=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实现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1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个方法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191250" y="952500"/>
            <a:ext cx="5334000" cy="2381250"/>
          </a:xfrm>
          <a:prstGeom prst="roundRect">
            <a:avLst>
              <a:gd name="adj" fmla="val 5600"/>
            </a:avLst>
          </a:prstGeom>
          <a:solidFill>
            <a:srgbClr val="06B6D4">
              <a:alpha val="10000"/>
            </a:srgbClr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19850" y="118110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67E8F9"/>
                </a:solidFill>
                <a:latin typeface="思源黑体"/>
                <a:ea typeface="思源黑体"/>
              </a:rPr>
              <a:t>检测规则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19850" y="1428750"/>
            <a:ext cx="4876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6B6D4"/>
                </a:solidFill>
                <a:latin typeface="思源黑体"/>
                <a:ea typeface="思源黑体"/>
              </a:rPr>
              <a:t>195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419850" y="244792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全部自研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YAML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规则，每条带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为什么判为真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的解释依据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66750" y="3524250"/>
            <a:ext cx="5334000" cy="2381250"/>
          </a:xfrm>
          <a:prstGeom prst="roundRect">
            <a:avLst>
              <a:gd name="adj" fmla="val 5600"/>
            </a:avLst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895350" y="375285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CD34D"/>
                </a:solidFill>
                <a:latin typeface="思源黑体"/>
                <a:ea typeface="思源黑体"/>
              </a:rPr>
              <a:t>凭据类型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895350" y="4000500"/>
            <a:ext cx="4876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F59E0B"/>
                </a:solidFill>
                <a:latin typeface="思源黑体"/>
                <a:ea typeface="思源黑体"/>
              </a:rPr>
              <a:t>59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895350" y="5019675"/>
            <a:ext cx="48768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7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大类：云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AK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、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API Token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、支付密钥、数据库、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SSH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私钥、数字资产……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191250" y="3524250"/>
            <a:ext cx="5334000" cy="2381250"/>
          </a:xfrm>
          <a:prstGeom prst="roundRect">
            <a:avLst>
              <a:gd name="adj" fmla="val 5600"/>
            </a:avLst>
          </a:prstGeom>
          <a:solidFill>
            <a:srgbClr val="22C55E">
              <a:alpha val="10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419850" y="3752850"/>
            <a:ext cx="487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6EFAC"/>
                </a:solidFill>
                <a:latin typeface="思源黑体"/>
                <a:ea typeface="思源黑体"/>
              </a:rPr>
              <a:t>只读验活器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19850" y="4000500"/>
            <a:ext cx="4876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22C55E"/>
                </a:solidFill>
                <a:latin typeface="思源黑体"/>
                <a:ea typeface="思源黑体"/>
              </a:rPr>
              <a:t>16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19850" y="5019675"/>
            <a:ext cx="48768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确认凭据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是否仍可用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"——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云签名算法自实现，默认关闭、全局限速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05 / 11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5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创新点（上）：组合风险 与 可解释评分&lt;/Text&gt;&#13;&#10;  &lt;/Box&gt;&#13;&#10;  &lt;Box style={{ height: 540, gap: 20 }}&gt;&#13;&#10;    &lt;Box style={{ height: 245, flexDirection: 'row', gap: 22 }}&gt;&#13;&#10;      &lt;Box style={{ width: 420, background: '#EFF6FF', borderRadius: 12, padding: 24, border: '1px solid #DBEAFE' }}&gt;&#13;&#10;        &lt;FAIcon name='link' style={{ fill: '#3B82F6', width: 36, height: 36 }} /&gt;&#13;&#10;        &lt;Text style={{ fontSize: 24, fontWeight: 'bold', color: '#0F172A', marginTop: 12 }}&gt;凭据对关联&lt;/Text&gt;&#13;&#10;        &lt;Text style={{ fontSize: 17, color: '#334155', lineHeight: 1.6, marginTop: 10 }}&gt;&#13;&#10;          有些字符串单看&quot;不是完整钥匙&quot;——{'\n'}比如 AccessKey ID 只是&quot;钥匙上的牌子&quot;，{'\n'}配上 Secret 才能开门。&#13;&#10;        &lt;/Text&gt;&#13;&#10;        &lt;Box style={{ marginTop: 'auto', background: '#0F172A', borderRadius: 8, padding: 12 }}&gt;&#13;&#10;          &lt;Text style={{ fontSize: 16, color: '#F59E0B', fontWeight: 'bold' }}&gt;&#13;&#10;            同文件出现配对组合 → 整组升级 critical&#13;&#10;          &lt;/Text&gt;&#13;&#10;        &lt;/Box&gt;&#13;&#10;      &lt;/Box&gt;&#13;&#10;      &lt;Box style={{ flex: 1, gap: 14 }}&gt;&#13;&#10;        &lt;Box style={{ background: '#F8FAFC', borderRadius: 12, padding: 20, border: '1px solid #E2E8F0' }}&gt;&#13;&#10;          &lt;Text style={{ fontSize: 18, fontWeight: 'bold', color: '#0F172A' }}&gt;为什么有价值？&lt;/Text&gt;&#13;&#10;          &lt;Text style={{ fontSize: 17, color: '#475569', lineHeight: 1.6, marginTop: 8 }}&gt;&#13;&#10;            多数同类工具只做单条匹配，漏掉&quot;拼图型&quot;泄露——而攻击者最爱这种：两条都不起眼，合起来就是完整身份。&#13;&#10;          &lt;/Text&gt;&#13;&#10;        &lt;/Box&gt;&#13;&#10;        &lt;Box style={{ background: '#F8FAFC', borderRadius: 12, padding: 20, border: '1px solid #E2E8F0' }}&gt;&#13;&#10;          &lt;Text style={{ fontSize: 18, fontWeight: 'bold', color: '#0F172A' }}&gt;边界把控&lt;/Text&gt;&#13;&#10;          &lt;Text style={{ fontSize: 17, color: '#475569', lineHeight: 1.6, marginTop: 8 }}&gt;&#13;&#10;            同文件配对 / 跨文件配对才关联；不同仓库不误关联、单条不误报——四种边界都有单元测试锁死。&#13;&#10;          &lt;/Text&gt;&#13;&#10;        &lt;/Box&gt;&#13;&#10;      &lt;/Box&gt;&#13;&#10;    &lt;/Box&gt;&#13;&#10;    &lt;Box style={{ height: 250, flexDirection: 'row', gap: 22 }}&gt;&#13;&#10;      &lt;Box style={{ flex: 1.2, background: '#F0F9FF', borderRadius: 12, padding: 24, border: '1px solid #BAE6FD' }}&gt;&#13;&#10;        &lt;FAIcon name='calculator' style={{ fill: '#06B6D4', width: 36, height: 36 }} /&gt;&#13;&#10;        &lt;Text style={{ fontSize: 24, fontWeight: 'bold', color: '#0F172A', marginTop: 12 }}&gt;可解释概率评分&lt;/Text&gt;&#13;&#10;        &lt;Text style={{ fontSize: 17, color: '#334155', lineHeight: 1.6, marginTop: 10 }}&gt;&#13;&#10;          每条判定不是一个干巴巴的分数，而是一段&quot;判词&quot;——告诉你每个信号贡献了多少分：&#13;&#10;        &lt;/Text&gt;&#13;&#10;        &lt;Box style={{ background: '#0F172A', borderRadius: 8, padding: 14, marginTop: 12 }}&gt;&#13;&#10;          &lt;Text style={{ fontSize: 15, color: '#7DD3FC', lineHeight: 1.6, fontFamily: &quot;'JetBrains Mono', Consolas, monospace&quot; }}&gt;&#13;&#10;            +1.60 命中结构化格式规则{'\n'}+1.30 邻近出现云厂商或平台名称{'\n'}+0.80 值的信息熵偏高&#13;&#10;          &lt;/Text&gt;&#13;&#10;        &lt;/Box&gt;&#13;&#10;      &lt;/Box&gt;&#13;&#10;      &lt;Box style={{ width: 330, background: '#F8FAFC', borderRadius: 12, padding: 20, border: '1px solid #E2E8F0' }}&gt;&#13;&#10;        &lt;Text style={{ fontSize: 18, fontWeight: 'bold', color: '#0F172A' }}&gt;为什么值得做&lt;/Text&gt;&#13;&#10;        &lt;Text style={{ fontSize: 16, color: '#475569', lineHeight: 1.65, marginTop: 8 }}&gt;&#13;&#10;          ① 答辩时评委问&quot;凭什么判定为真&quot;，答得出来；{'\n'}&#13;&#10;          ② 调参时知道哪个信号在起作用；{'\n'}&#13;&#10;          ③ 权重可从人工反馈自动校准——越用越准。&#13;&#10;        &lt;/Text&gt;&#13;&#10;      &lt;/Box&gt;&#13;&#10;    &lt;/Box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6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57054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创新点（上）：组合风险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与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可解释评分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666750" y="952500"/>
            <a:ext cx="4000500" cy="2638425"/>
          </a:xfrm>
          <a:prstGeom prst="roundRect">
            <a:avLst>
              <a:gd name="adj" fmla="val 433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181100"/>
            <a:ext cx="342900" cy="3429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95350" y="1638300"/>
            <a:ext cx="3543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凭据对关联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95350" y="2009775"/>
            <a:ext cx="3543300" cy="933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有些字符串单看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不是完整钥匙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"——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比如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AccessKey ID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只是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钥匙上的牌子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，</a:t>
            </a:r>
            <a:endParaRPr/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配上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Secret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才能开门。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895350" y="2943225"/>
            <a:ext cx="3543300" cy="41910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009650" y="3057525"/>
            <a:ext cx="331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9E0B"/>
                </a:solidFill>
                <a:latin typeface="思源黑体"/>
                <a:ea typeface="思源黑体"/>
              </a:rPr>
              <a:t>同文件出现配对组合</a:t>
            </a:r>
            <a:r>
              <a:rPr lang="en-US" sz="1200" b="1">
                <a:solidFill>
                  <a:srgbClr val="F59E0B"/>
                </a:solidFill>
                <a:latin typeface="思源黑体"/>
                <a:ea typeface="思源黑体"/>
              </a:rPr>
              <a:t> → </a:t>
            </a:r>
            <a:r>
              <a:rPr lang="zh-CN" sz="1200" b="1">
                <a:solidFill>
                  <a:srgbClr val="F59E0B"/>
                </a:solidFill>
                <a:latin typeface="思源黑体"/>
                <a:ea typeface="思源黑体"/>
              </a:rPr>
              <a:t>整组升级</a:t>
            </a:r>
            <a:r>
              <a:rPr lang="en-US" sz="1200" b="1">
                <a:solidFill>
                  <a:srgbClr val="F59E0B"/>
                </a:solidFill>
                <a:latin typeface="思源黑体"/>
                <a:ea typeface="思源黑体"/>
              </a:rPr>
              <a:t> critical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876800" y="952500"/>
            <a:ext cx="6648450" cy="129540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067300" y="1143000"/>
            <a:ext cx="626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为什么有价值？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5067300" y="1428750"/>
            <a:ext cx="6267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多数同类工具只做单条匹配，漏掉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拼图型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泄露——而攻击者最爱这种：两条都不起眼，合起来就是完整身份。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876800" y="2381250"/>
            <a:ext cx="6648450" cy="1295400"/>
          </a:xfrm>
          <a:prstGeom prst="roundRect">
            <a:avLst>
              <a:gd name="adj" fmla="val 882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067300" y="2571750"/>
            <a:ext cx="6267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边界把控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67300" y="2857500"/>
            <a:ext cx="62674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同文件配对</a:t>
            </a:r>
            <a:r>
              <a:rPr lang="en-US" sz="1275">
                <a:solidFill>
                  <a:srgbClr val="475569"/>
                </a:solidFill>
                <a:latin typeface="思源黑体"/>
                <a:ea typeface="思源黑体"/>
              </a:rPr>
              <a:t> / </a:t>
            </a:r>
            <a:r>
              <a:rPr lang="zh-CN" sz="1275">
                <a:solidFill>
                  <a:srgbClr val="475569"/>
                </a:solidFill>
                <a:latin typeface="思源黑体"/>
                <a:ea typeface="思源黑体"/>
              </a:rPr>
              <a:t>跨文件配对才关联；不同仓库不误关联、单条不误报——四种边界都有单元测试锁死。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66750" y="3476625"/>
            <a:ext cx="7505700" cy="2809875"/>
          </a:xfrm>
          <a:prstGeom prst="roundRect">
            <a:avLst>
              <a:gd name="adj" fmla="val 4068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95350" y="3705225"/>
            <a:ext cx="342900" cy="34290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895350" y="4162425"/>
            <a:ext cx="7048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思源黑体"/>
                <a:ea typeface="思源黑体"/>
              </a:rPr>
              <a:t>可解释概率评分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95350" y="4533900"/>
            <a:ext cx="70485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每条判定不是一个干巴巴的分数，而是一段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判词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"——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告诉你每个信号贡献了多少分：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895350" y="4962525"/>
            <a:ext cx="7048500" cy="1095375"/>
          </a:xfrm>
          <a:prstGeom prst="roundRect">
            <a:avLst>
              <a:gd name="adj" fmla="val 695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028700" y="5095875"/>
            <a:ext cx="6781800" cy="828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7DD3FC"/>
                </a:solidFill>
                <a:latin typeface="JetBrains Mono"/>
                <a:ea typeface="JetBrains Mono"/>
              </a:rPr>
              <a:t>+1.60 </a:t>
            </a:r>
            <a:r>
              <a:rPr lang="zh-CN" sz="1125">
                <a:solidFill>
                  <a:srgbClr val="7DD3FC"/>
                </a:solidFill>
                <a:latin typeface="JetBrains Mono"/>
                <a:ea typeface="JetBrains Mono"/>
              </a:rPr>
              <a:t>命中结构化格式规则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7DD3FC"/>
                </a:solidFill>
                <a:latin typeface="JetBrains Mono"/>
                <a:ea typeface="JetBrains Mono"/>
              </a:rPr>
              <a:t>+1.30 </a:t>
            </a:r>
            <a:r>
              <a:rPr lang="zh-CN" sz="1125">
                <a:solidFill>
                  <a:srgbClr val="7DD3FC"/>
                </a:solidFill>
                <a:latin typeface="JetBrains Mono"/>
                <a:ea typeface="JetBrains Mono"/>
              </a:rPr>
              <a:t>邻近出现云厂商或平台名称</a:t>
            </a:r>
            <a:endParaRPr/>
          </a:p>
          <a:p>
            <a:pPr>
              <a:lnSpc>
                <a:spcPct val="160000"/>
              </a:lnSpc>
            </a:pPr>
            <a:r>
              <a:rPr lang="en-US" sz="1125">
                <a:solidFill>
                  <a:srgbClr val="7DD3FC"/>
                </a:solidFill>
                <a:latin typeface="JetBrains Mono"/>
                <a:ea typeface="JetBrains Mono"/>
              </a:rPr>
              <a:t>+0.80 </a:t>
            </a:r>
            <a:r>
              <a:rPr lang="zh-CN" sz="1125">
                <a:solidFill>
                  <a:srgbClr val="7DD3FC"/>
                </a:solidFill>
                <a:latin typeface="JetBrains Mono"/>
                <a:ea typeface="JetBrains Mono"/>
              </a:rPr>
              <a:t>值的信息熵偏高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382000" y="3476625"/>
            <a:ext cx="3143250" cy="2381250"/>
          </a:xfrm>
          <a:prstGeom prst="roundRect">
            <a:avLst>
              <a:gd name="adj" fmla="val 48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572500" y="3667125"/>
            <a:ext cx="2762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为什么值得做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572500" y="3952875"/>
            <a:ext cx="2762250" cy="1514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①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答辩时评委问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凭什么判定为真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，答得出来；</a:t>
            </a:r>
            <a:endParaRPr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②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调参时知道哪个信号在起作用；</a:t>
            </a:r>
            <a:endParaRPr/>
          </a:p>
          <a:p>
            <a:pPr>
              <a:lnSpc>
                <a:spcPct val="165000"/>
              </a:lnSpc>
            </a:pP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③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权重可从人工反馈自动校准——越用越准。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06 / 11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2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创新点（下）：让平台&quot;越用越准、越用越广&quot;&lt;/Text&gt;&#13;&#10;  &lt;/Box&gt;&#13;&#10;  &lt;Box style={{ height: 540, flexDirection: 'row', gap: 20 }}&gt;&#13;&#10;    &lt;Box style={{ flex: 1, background: '#F8FAFC', borderRadius: 12, padding: 24, border: '1px solid #E2E8F0' }}&gt;&#13;&#10;      &lt;FAIcon name='sync-alt' style={{ fill: '#3B82F6', width: 36, height: 36 }} /&gt;&#13;&#10;      &lt;Text style={{ fontSize: 23, fontWeight: 'bold', color: '#0F172A', marginTop: 12 }}&gt;误报反馈闭环&lt;/Text&gt;&#13;&#10;      &lt;Text style={{ fontSize: 17, color: '#334155', lineHeight: 1.65, marginTop: 12 }}&gt;&#13;&#10;        传统做法：误报 → 加白名单 → 下次同类换个花样又误报。&#13;&#10;      &lt;/Text&gt;&#13;&#10;      &lt;Text style={{ fontSize: 17, color: '#334155', lineHeight: 1.65, marginTop: 10 }}&gt;&#13;&#10;        凭迹做法：误报作为训练样本，重新调整判定权重——{'\n'}&#13;&#10;        &lt;Text style={{ fontWeight: 'bold', color: '#3B82F6' }}&gt;标注 → 校准 → 生效 → 抑制 → 复核&lt;/Text&gt;，&#13;&#10;        形成闭环，同类误报一次管住。&#13;&#10;      &lt;/Text&gt;&#13;&#10;    &lt;/Box&gt;&#13;&#10;    &lt;Box style={{ flex: 1, background: '#F8FAFC', borderRadius: 12, padding: 24, border: '1px solid #E2E8F0' }}&gt;&#13;&#10;      &lt;FAIcon name='magic' style={{ fill: '#06B6D4', width: 36, height: 36 }} /&gt;&#13;&#10;      &lt;Text style={{ fontSize: 23, fontWeight: 'bold', color: '#0F172A', marginTop: 12 }}&gt;规则自动归纳&lt;/Text&gt;&#13;&#10;      &lt;Text style={{ fontSize: 17, color: '#334155', lineHeight: 1.65, marginTop: 12 }}&gt;&#13;&#10;        新平台冒出来、凭据格式变了怎么办？{'\n'}&#13;&#10;        从已确认的泄露样本自动起草候选规则：公共前缀、长度区间、字符集、熵区间，并做冲突检测——{'\n'}&#13;&#10;        &lt;Text style={{ fontWeight: 'bold' }}&gt;一条命令即可生成可运行的新渠道骨架&lt;/Text&gt;，答辩现场可演示。&#13;&#10;      &lt;/Text&gt;&#13;&#10;    &lt;/Box&gt;&#13;&#10;    &lt;Box style={{ flex: 1, background: '#F8FAFC', borderRadius: 12, padding: 24, border: '1px solid #E2E8F0' }}&gt;&#13;&#10;      &lt;FAIcon name='layer-group' style={{ fill: '#F59E0B', width: 36, height: 36 }} /&gt;&#13;&#10;      &lt;Text style={{ fontSize: 23, fontWeight: 'bold', color: '#0F172A', marginTop: 12 }}&gt;镜像层&quot;删了≠没有&quot;&lt;/Text&gt;&#13;&#10;      &lt;Text style={{ fontSize: 17, color: '#334155', lineHeight: 1.65, marginTop: 12 }}&gt;&#13;&#10;        Dockerfile 里用 ENV 传过密钥，后来改掉重新构建——{'\n'}&#13;&#10;        但镜像的&lt;Text style={{ fontWeight: 'bold', color: '#F59E0B' }}&gt;历史层&lt;/Text&gt;仍保留旧内容，构建历史里 ENV/ARG 残留清晰可见。{'\n'}&#13;&#10;        凭迹逐层解包镜像，专门抓这种&quot;自以为删干净了&quot;的高危泄露。&#13;&#10;      &lt;/Text&gt;&#13;&#10;    &lt;/Box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7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4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6496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创新点（下）：让平台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越用越准、越用越广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666750" y="952500"/>
            <a:ext cx="3495675" cy="5143500"/>
          </a:xfrm>
          <a:prstGeom prst="roundRect">
            <a:avLst>
              <a:gd name="adj" fmla="val 32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181100"/>
            <a:ext cx="342900" cy="342900"/>
          </a:xfrm>
          <a:prstGeom prst="rect">
            <a:avLst/>
          </a:prstGeom>
          <a:ln/>
        </p:spPr>
      </p:pic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95350" y="1638300"/>
            <a:ext cx="30384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误报反馈闭环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895350" y="2019300"/>
            <a:ext cx="3038475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传统做法：误报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加白名单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下次同类换个花样又误报。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95350" y="2762250"/>
            <a:ext cx="3038475" cy="1285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凭迹做法：误报作为训练样本，重新调整判定权重——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标注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校准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生效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抑制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复核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，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形成闭环，同类误报一次管住。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4352925" y="952500"/>
            <a:ext cx="3486150" cy="5143500"/>
          </a:xfrm>
          <a:prstGeom prst="roundRect">
            <a:avLst>
              <a:gd name="adj" fmla="val 327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581525" y="1181100"/>
            <a:ext cx="342900" cy="342900"/>
          </a:xfrm>
          <a:prstGeom prst="rect">
            <a:avLst/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81525" y="1638300"/>
            <a:ext cx="30289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规则自动归纳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81525" y="2019300"/>
            <a:ext cx="3028950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新平台冒出来、凭据格式变了怎么办？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从已确认的泄露样本自动起草候选规则：公共前缀、长度区间、字符集、熵区间，并做冲突检测——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一条命令即可生成可运行的新渠道骨架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，答辩现场可演示。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8029575" y="952500"/>
            <a:ext cx="3495675" cy="5143500"/>
          </a:xfrm>
          <a:prstGeom prst="roundRect">
            <a:avLst>
              <a:gd name="adj" fmla="val 327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58175" y="1181100"/>
            <a:ext cx="342900" cy="342900"/>
          </a:xfrm>
          <a:prstGeom prst="rect">
            <a:avLst/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8258175" y="1638300"/>
            <a:ext cx="30384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镜像层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r>
              <a:rPr lang="zh-CN" sz="1725" b="1">
                <a:solidFill>
                  <a:srgbClr val="0F172A"/>
                </a:solidFill>
                <a:latin typeface="思源黑体"/>
                <a:ea typeface="思源黑体"/>
              </a:rPr>
              <a:t>删了≠没有</a:t>
            </a:r>
            <a:r>
              <a:rPr lang="en-US" sz="1725" b="1">
                <a:solidFill>
                  <a:srgbClr val="0F172A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8258175" y="2019300"/>
            <a:ext cx="3038475" cy="1924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Dockerfile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里用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ENV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传过密钥，后来改掉重新构建——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但镜像的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历史层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仍保留旧内容，构建历史里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 ENV/ARG 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残留清晰可见。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凭迹逐层解包镜像，专门抓这种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自以为删干净了</a:t>
            </a:r>
            <a:r>
              <a:rPr lang="en-US" sz="1275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275">
                <a:solidFill>
                  <a:srgbClr val="334155"/>
                </a:solidFill>
                <a:latin typeface="思源黑体"/>
                <a:ea typeface="思源黑体"/>
              </a:rPr>
              <a:t>的高危泄露。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07 / 11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1" name="" descr="&lt;Slide style={{ width: 1280, height: 720, background: '#0F172A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F59E0B', borderRadius: 2 }} /&gt;&#13;&#10;    &lt;Text style={{ fontSize: 34, fontWeight: 'bold', color: '#FFFFFF' }}&gt;真实实测：在真实互联网上验证过&lt;/Text&gt;&#13;&#10;  &lt;/Box&gt;&#13;&#10;  &lt;Box style={{ height: 540, gap: 18 }}&gt;&#13;&#10;    &lt;Text style={{ fontSize: 19, color: '#94A3B8' }}&gt;&#13;&#10;      三轮独立实测，全部针对 GitHub 公开 Gist（公开接口、只读公开内容）——报告只含掩码与指纹，明文不落盘：&#13;&#10;    &lt;/Text&gt;&#13;&#10;    &lt;Box style={{ flexDirection: 'row', gap: 18, height: 150 }}&gt;&#13;&#10;      &lt;Box style={{ flex: 1, background: 'rgba(59,130,246,0.10)', borderRadius: 12, padding: 20, border: '1px solid rgba(59,130,246,0.4)' }}&gt;&#13;&#10;        &lt;Text style={{ fontSize: 15, color: '#93C5FD' }}&gt;第一轮 · 120 份文档&lt;/Text&gt;&#13;&#10;        &lt;Text style={{ fontSize: 44, fontWeight: 'bold', color: '#FFFFFF', marginTop: 6 }}&gt;57 &lt;Text style={{ fontSize: 18, color: '#94A3B8' }}&gt;个唯一凭据&lt;/Text&gt;&lt;/Text&gt;&#13;&#10;      &lt;/Box&gt;&#13;&#10;      &lt;Box style={{ flex: 1, background: 'rgba(59,130,246,0.10)', borderRadius: 12, padding: 20, border: '1px solid rgba(59,130,246,0.4)' }}&gt;&#13;&#10;        &lt;Text style={{ fontSize: 15, color: '#93C5FD' }}&gt;第二轮 · 1103 份文档&lt;/Text&gt;&#13;&#10;        &lt;Text style={{ fontSize: 44, fontWeight: 'bold', color: '#FFFFFF', marginTop: 6 }}&gt;199 &lt;Text style={{ fontSize: 18, color: '#94A3B8' }}&gt;个唯一凭据&lt;/Text&gt;&lt;/Text&gt;&#13;&#10;      &lt;/Box&gt;&#13;&#10;      &lt;Box style={{ flex: 1, background: 'rgba(59,130,246,0.10)', borderRadius: 12, padding: 20, border: '1px solid rgba(59,130,246,0.4)' }}&gt;&#13;&#10;        &lt;Text style={{ fontSize: 15, color: '#93C5FD' }}&gt;第三轮 · 1200 份文档&lt;/Text&gt;&#13;&#10;        &lt;Text style={{ fontSize: 44, fontWeight: 'bold', color: '#FFFFFF', marginTop: 6 }}&gt;165 &lt;Text style={{ fontSize: 18, color: '#94A3B8' }}&gt;个唯一凭据&lt;/Text&gt;&lt;/Text&gt;&#13;&#10;      &lt;/Box&gt;&#13;&#10;    &lt;/Box&gt;&#13;&#10;    &lt;Box style={{ flexDirection: 'row', gap: 18, height: 170 }}&gt;&#13;&#10;      &lt;Box style={{ flex: 1.1, background: 'rgba(245,158,11,0.14)', borderRadius: 12, padding: 22, border: '1px solid rgba(245,158,11,0.5)' }}&gt;&#13;&#10;        &lt;Text style={{ fontSize: 15, color: '#FCD34D', letterSpacing: 2 }}&gt;最高风险发现&lt;/Text&gt;&#13;&#10;        &lt;Text style={{ fontSize: 40, fontWeight: 'bold', color: '#F59E0B', marginTop: 6 }}&gt;critical × 46&lt;/Text&gt;&#13;&#10;        &lt;Text style={{ fontSize: 16, color: '#CBD5E1', lineHeight: 1.55, marginTop: 8 }}&gt;&#13;&#10;          第三轮含真实泄露的 OpenSSH 私钥、以太坊私钥、比特币 WIF 私钥——均为&quot;资产/主机直接可控&quot;级别。&#13;&#10;        &lt;/Text&gt;&#13;&#10;      &lt;/Box&gt;&#13;&#10;      &lt;Box style={{ flex: 1.1, background: 'rgba(34,197,94,0.12)', borderRadius: 12, padding: 22, border: '1px solid rgba(34,197,94,0.45)' }}&gt;&#13;&#10;        &lt;Text style={{ fontSize: 15, color: '#86EFAC', letterSpacing: 2 }}&gt;时效性（赛题点名指标）&lt;/Text&gt;&#13;&#10;        &lt;Text style={{ fontSize: 40, fontWeight: 'bold', color: '#22C55E', marginTop: 6 }}&gt;最快 2.4 分钟&lt;/Text&gt;&#13;&#10;        &lt;Text style={{ fontSize: 16, color: '#CBD5E1', lineHeight: 1.55, marginTop: 8 }}&gt;&#13;&#10;          凭据公开后 2.4 分钟即被发现；三轮累计 38 条在公开 10 分钟内被检出（MTTD，发现时间 − 公开时间）。&#13;&#10;        &lt;/Text&gt;&#13;&#10;      &lt;/Box&gt;&#13;&#10;    &lt;/Box&gt;&#13;&#10;    &lt;Text style={{ fontSize: 16, color: '#64748B' }}&gt;&#13;&#10;      附带价值：GitHub 官方推送保护拦截了我们演示语料中的&quot;伪造凭据&quot;——命中的正是同一批格式，等于第三方旁证了检测能力。&#13;&#10;    &lt;/Text&gt;&#13;&#10;  &lt;/Box&gt;&#13;&#10;  &lt;Box style={{ height: 40, flexDirection: 'row', justifyContent: 'space-between', alignItems: 'center' }}&gt;&#13;&#10;    &lt;Text style={{ fontSize: 13, color: '#64748B' }}&gt;凭迹 CredWatch · 项目解读&lt;/Text&gt;&#13;&#10;    &lt;Text style={{ fontSize: 13, color: '#64748B' }}&gt;08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FFFFF"/>
                </a:solidFill>
                <a:latin typeface="思源黑体"/>
                <a:ea typeface="思源黑体"/>
              </a:rPr>
              <a:t>真实实测：在真实互联网上验证过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66750" y="952500"/>
            <a:ext cx="10858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94A3B8"/>
                </a:solidFill>
                <a:latin typeface="思源黑体"/>
                <a:ea typeface="思源黑体"/>
              </a:rPr>
              <a:t>三轮独立实测，全部针对</a:t>
            </a:r>
            <a:r>
              <a:rPr lang="en-US" sz="1425">
                <a:solidFill>
                  <a:srgbClr val="94A3B8"/>
                </a:solidFill>
                <a:latin typeface="思源黑体"/>
                <a:ea typeface="思源黑体"/>
              </a:rPr>
              <a:t> GitHub </a:t>
            </a:r>
            <a:r>
              <a:rPr lang="zh-CN" sz="1425">
                <a:solidFill>
                  <a:srgbClr val="94A3B8"/>
                </a:solidFill>
                <a:latin typeface="思源黑体"/>
                <a:ea typeface="思源黑体"/>
              </a:rPr>
              <a:t>公开</a:t>
            </a:r>
            <a:r>
              <a:rPr lang="en-US" sz="1425">
                <a:solidFill>
                  <a:srgbClr val="94A3B8"/>
                </a:solidFill>
                <a:latin typeface="思源黑体"/>
                <a:ea typeface="思源黑体"/>
              </a:rPr>
              <a:t> Gist</a:t>
            </a:r>
            <a:r>
              <a:rPr lang="zh-CN" sz="1425">
                <a:solidFill>
                  <a:srgbClr val="94A3B8"/>
                </a:solidFill>
                <a:latin typeface="思源黑体"/>
                <a:ea typeface="思源黑体"/>
              </a:rPr>
              <a:t>（公开接口、只读公开内容）——报告只含掩码与指纹，明文不落盘：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66750" y="1343025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57250" y="153352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第一轮</a:t>
            </a:r>
            <a:r>
              <a:rPr lang="en-US" sz="1125">
                <a:solidFill>
                  <a:srgbClr val="93C5FD"/>
                </a:solidFill>
                <a:latin typeface="思源黑体"/>
                <a:ea typeface="思源黑体"/>
              </a:rPr>
              <a:t> · 120 </a:t>
            </a: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份文档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57250" y="1762125"/>
            <a:ext cx="3124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57 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个唯一凭据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343400" y="1343025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533900" y="153352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第二轮</a:t>
            </a:r>
            <a:r>
              <a:rPr lang="en-US" sz="1125">
                <a:solidFill>
                  <a:srgbClr val="93C5FD"/>
                </a:solidFill>
                <a:latin typeface="思源黑体"/>
                <a:ea typeface="思源黑体"/>
              </a:rPr>
              <a:t> · 1103 </a:t>
            </a: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份文档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533900" y="1762125"/>
            <a:ext cx="3124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199 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个唯一凭据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8020050" y="1343025"/>
            <a:ext cx="3505200" cy="1428750"/>
          </a:xfrm>
          <a:prstGeom prst="roundRect">
            <a:avLst>
              <a:gd name="adj" fmla="val 8000"/>
            </a:avLst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210550" y="1533525"/>
            <a:ext cx="3124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第三轮</a:t>
            </a:r>
            <a:r>
              <a:rPr lang="en-US" sz="1125">
                <a:solidFill>
                  <a:srgbClr val="93C5FD"/>
                </a:solidFill>
                <a:latin typeface="思源黑体"/>
                <a:ea typeface="思源黑体"/>
              </a:rPr>
              <a:t> · 1200 </a:t>
            </a:r>
            <a:r>
              <a:rPr lang="zh-CN" sz="1125">
                <a:solidFill>
                  <a:srgbClr val="93C5FD"/>
                </a:solidFill>
                <a:latin typeface="思源黑体"/>
                <a:ea typeface="思源黑体"/>
              </a:rPr>
              <a:t>份文档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210550" y="1762125"/>
            <a:ext cx="31242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思源黑体"/>
                <a:ea typeface="思源黑体"/>
              </a:rPr>
              <a:t>165 </a:t>
            </a:r>
            <a:r>
              <a:rPr lang="zh-CN" sz="3300" b="1">
                <a:solidFill>
                  <a:srgbClr val="FFFFFF"/>
                </a:solidFill>
                <a:latin typeface="思源黑体"/>
                <a:ea typeface="思源黑体"/>
              </a:rPr>
              <a:t>个唯一凭据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666750" y="2943225"/>
            <a:ext cx="5343525" cy="1752600"/>
          </a:xfrm>
          <a:prstGeom prst="roundRect">
            <a:avLst>
              <a:gd name="adj" fmla="val 6522"/>
            </a:avLst>
          </a:prstGeom>
          <a:solidFill>
            <a:srgbClr val="F59E0B">
              <a:alpha val="14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876300" y="3152775"/>
            <a:ext cx="492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FCD34D"/>
                </a:solidFill>
                <a:latin typeface="思源黑体"/>
                <a:ea typeface="思源黑体"/>
              </a:rPr>
              <a:t>最高风险发现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76300" y="3381375"/>
            <a:ext cx="49244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59E0B"/>
                </a:solidFill>
                <a:latin typeface="思源黑体"/>
                <a:ea typeface="思源黑体"/>
              </a:rPr>
              <a:t>critical × 46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76300" y="3914775"/>
            <a:ext cx="4924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第三轮含真实泄露的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OpenSSH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私钥、以太坊私钥、比特币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WIF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私钥——均为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资产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/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主机直接可控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级别。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181725" y="2943225"/>
            <a:ext cx="5343525" cy="1752600"/>
          </a:xfrm>
          <a:prstGeom prst="roundRect">
            <a:avLst>
              <a:gd name="adj" fmla="val 6522"/>
            </a:avLst>
          </a:prstGeom>
          <a:solidFill>
            <a:srgbClr val="22C55E">
              <a:alpha val="12000"/>
            </a:srgbClr>
          </a:solidFill>
          <a:ln w="12700">
            <a:solidFill>
              <a:srgbClr val="22C55E">
                <a:alpha val="4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391275" y="3152775"/>
            <a:ext cx="4924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86EFAC"/>
                </a:solidFill>
                <a:latin typeface="思源黑体"/>
                <a:ea typeface="思源黑体"/>
              </a:rPr>
              <a:t>时效性（赛题点名指标）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391275" y="3381375"/>
            <a:ext cx="49244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22C55E"/>
                </a:solidFill>
                <a:latin typeface="思源黑体"/>
                <a:ea typeface="思源黑体"/>
              </a:rPr>
              <a:t>最快</a:t>
            </a:r>
            <a:r>
              <a:rPr lang="en-US" sz="3000" b="1">
                <a:solidFill>
                  <a:srgbClr val="22C55E"/>
                </a:solidFill>
                <a:latin typeface="思源黑体"/>
                <a:ea typeface="思源黑体"/>
              </a:rPr>
              <a:t> 2.4 </a:t>
            </a:r>
            <a:r>
              <a:rPr lang="zh-CN" sz="3000" b="1">
                <a:solidFill>
                  <a:srgbClr val="22C55E"/>
                </a:solidFill>
                <a:latin typeface="思源黑体"/>
                <a:ea typeface="思源黑体"/>
              </a:rPr>
              <a:t>分钟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91275" y="3914775"/>
            <a:ext cx="49244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凭据公开后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2.4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分钟即被发现；三轮累计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38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条在公开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10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分钟内被检出（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MTTD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，发现时间</a:t>
            </a:r>
            <a:r>
              <a:rPr lang="en-US" sz="1200">
                <a:solidFill>
                  <a:srgbClr val="CBD5E1"/>
                </a:solidFill>
                <a:latin typeface="思源黑体"/>
                <a:ea typeface="思源黑体"/>
              </a:rPr>
              <a:t> − </a:t>
            </a:r>
            <a:r>
              <a:rPr lang="zh-CN" sz="1200">
                <a:solidFill>
                  <a:srgbClr val="CBD5E1"/>
                </a:solidFill>
                <a:latin typeface="思源黑体"/>
                <a:ea typeface="思源黑体"/>
              </a:rPr>
              <a:t>公开时间）。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66750" y="4733925"/>
            <a:ext cx="10858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附带价值：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GitHub 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官方推送保护拦截了我们演示语料中的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伪造凭据</a:t>
            </a:r>
            <a:r>
              <a:rPr lang="en-US" sz="1200">
                <a:solidFill>
                  <a:srgbClr val="64748B"/>
                </a:solidFill>
                <a:latin typeface="思源黑体"/>
                <a:ea typeface="思源黑体"/>
              </a:rPr>
              <a:t>"——</a:t>
            </a:r>
            <a:r>
              <a:rPr lang="zh-CN" sz="1200">
                <a:solidFill>
                  <a:srgbClr val="64748B"/>
                </a:solidFill>
                <a:latin typeface="思源黑体"/>
                <a:ea typeface="思源黑体"/>
              </a:rPr>
              <a:t>命中的正是同一批格式，等于第三方旁证了检测能力。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思源黑体"/>
                <a:ea typeface="思源黑体"/>
              </a:rPr>
              <a:t>08 / 11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6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F59E0B', borderRadius: 2 }} /&gt;&#13;&#10;    &lt;Text style={{ fontSize: 34, fontWeight: 'bold', color: '#0F172A' }}&gt;合规设计：平台自己绝不能成为新的泄露源&lt;/Text&gt;&#13;&#10;  &lt;/Box&gt;&#13;&#10;  &lt;Box style={{ height: 540, gap: 18 }}&gt;&#13;&#10;    &lt;Text style={{ fontSize: 20, color: '#475569' }}&gt;&#13;&#10;      这是赛题的硬性要求，也是凭迹从第一行代码就定下的四条铁律：&#13;&#10;    &lt;/Text&gt;&#13;&#10;    &lt;Box style={{ flexDirection: 'row', gap: 18, height: 200 }}&gt;&#13;&#10;      &lt;Box style={{ flex: 1, background: '#F8FAFC', borderRadius: 12, padding: 22, borderTop: '4px solid #3B82F6' }}&gt;&#13;&#10;        &lt;FAIcon name='eye' style={{ fill: '#3B82F6', width: 30, height: 30 }} /&gt;&#13;&#10;        &lt;Text style={{ fontSize: 20, fontWeight: 'bold', color: '#0F172A', marginTop: 10 }}&gt;只读公开内容&lt;/Text&gt;&#13;&#10;        &lt;Text style={{ fontSize: 16, color: '#475569', lineHeight: 1.6, marginTop: 8 }}&gt;&#13;&#10;          只访问无需登录即可访问的公开页面与接口，不登录、不绕过鉴权、不越权、不爆破。&#13;&#10;        &lt;/Text&gt;&#13;&#10;      &lt;/Box&gt;&#13;&#10;      &lt;Box style={{ flex: 1, background: '#F8FAFC', borderRadius: 12, padding: 22, borderTop: '4px solid #3B82F6' }}&gt;&#13;&#10;        &lt;FAIcon name='mask' style={{ fill: '#3B82F6', width: 30, height: 30 }} /&gt;&#13;&#10;        &lt;Text style={{ fontSize: 20, fontWeight: 'bold', color: '#0F172A', marginTop: 10 }}&gt;掩码 + 指纹落盘&lt;/Text&gt;&#13;&#10;        &lt;Text style={{ fontSize: 16, color: '#475569', lineHeight: 1.6, marginTop: 8 }}&gt;&#13;&#10;          数据库与报告里只有掩码（448e****faab）和 HMAC 指纹——凭据明文永不落盘，平台不成为新泄露源。&#13;&#10;        &lt;/Text&gt;&#13;&#10;      &lt;/Box&gt;&#13;&#10;      &lt;Box style={{ flex: 1, background: '#F8FAFC', borderRadius: 12, padding: 22, borderTop: '4px solid #06B6D4' }}&gt;&#13;&#10;        &lt;FAIcon name='check-circle' style={{ fill: '#06B6D4', width: 30, height: 30 }} /&gt;&#13;&#10;        &lt;Text style={{ fontSize: 20, fontWeight: 'bold', color: '#0F172A', marginTop: 10 }}&gt;只读验活、默认关闭&lt;/Text&gt;&#13;&#10;        &lt;Text style={{ fontSize: 16, color: '#475569', lineHeight: 1.6, marginTop: 8 }}&gt;&#13;&#10;          验活只调用平台官方只读身份接口，全局限速、默认关闭——只为确认&quot;钥匙是否还能开门&quot;，绝不开门。&#13;&#10;        &lt;/Text&gt;&#13;&#10;      &lt;/Box&gt;&#13;&#10;      &lt;Box style={{ flex: 1, background: '#F8FAFC', borderRadius: 12, padding: 22, borderTop: '4px solid #06B6D4' }}&gt;&#13;&#10;        &lt;FAIcon name='hands-helping' style={{ fill: '#06B6D4', width: 30, height: 30 }} /&gt;&#13;&#10;        &lt;Text style={{ fontSize: 20, fontWeight: 'bold', color: '#0F172A', marginTop: 10 }}&gt;负责任披露&lt;/Text&gt;&#13;&#10;        &lt;Text style={{ fontSize: 16, color: '#475569', lineHeight: 1.6, marginTop: 8 }}&gt;&#13;&#10;          发现泄露 → 通知责任主体 → 给出修复建议 → 复核。不利用、不囤积、不公开明文。&#13;&#10;        &lt;/Text&gt;&#13;&#10;      &lt;/Box&gt;&#13;&#10;    &lt;/Box&gt;&#13;&#10;    &lt;Box style={{ height: 130, background: '#0F172A', borderRadius: 12, padding: '20px 28px', justifyContent: 'center' }}&gt;&#13;&#10;      &lt;Text style={{ fontSize: 19, color: '#E2E8F0', lineHeight: 1.65 }}&gt;&#13;&#10;        &lt;Text style={{ fontWeight: 'bold', color: '#F59E0B' }}&gt;为什么答辩时这页很重要：&lt;/Text&gt;&#13;&#10;        检测类作品的特殊之处在于——你的工具每天在&quot;接触别人的秘密&quot;。&#13;&#10;        评委一定会查：你有没有把真实凭据存下来？有没有拿它做过什么？&#13;&#10;        凭迹的每一份实测报告都经得起这个拷问。&#13;&#10;      &lt;/Text&gt;&#13;&#10;    &lt;/Box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09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6153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合规设计：平台自己绝不能成为新的泄露源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66750" y="952500"/>
            <a:ext cx="1085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475569"/>
                </a:solidFill>
                <a:latin typeface="思源黑体"/>
                <a:ea typeface="思源黑体"/>
              </a:rPr>
              <a:t>这是赛题的硬性要求，也是凭迹从第一行代码就定下的四条铁律：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66750" y="1390650"/>
            <a:ext cx="2590800" cy="2028825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2" name=""/>
          <p:cNvSpPr/>
          <p:nvPr/>
        </p:nvSpPr>
        <p:spPr>
          <a:xfrm rot="0" flipH="0" flipV="0">
            <a:off x="666750" y="1390650"/>
            <a:ext cx="2590800" cy="2028825"/>
          </a:xfrm>
          <a:custGeom>
            <a:pathLst>
              <a:path w="272" h="213">
                <a:moveTo>
                  <a:pt x="261" y="0"/>
                </a:moveTo>
                <a:cubicBezTo>
                  <a:pt x="266" y="0"/>
                  <a:pt x="271" y="4"/>
                  <a:pt x="272" y="10"/>
                </a:cubicBezTo>
                <a:cubicBezTo>
                  <a:pt x="271" y="6"/>
                  <a:pt x="268" y="4"/>
                  <a:pt x="2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0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600200"/>
            <a:ext cx="285750" cy="28575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76300" y="1981200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只读公开内容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876300" y="2286000"/>
            <a:ext cx="2171700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只访问无需登录即可访问的公开页面与接口，不登录、不绕过鉴权、不越权、不爆破。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3429000" y="1390650"/>
            <a:ext cx="2581275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27" name=""/>
          <p:cNvSpPr/>
          <p:nvPr/>
        </p:nvSpPr>
        <p:spPr>
          <a:xfrm rot="0" flipH="0" flipV="0">
            <a:off x="3429000" y="1390650"/>
            <a:ext cx="2581275" cy="2314575"/>
          </a:xfrm>
          <a:custGeom>
            <a:pathLst>
              <a:path w="271" h="243">
                <a:moveTo>
                  <a:pt x="260" y="0"/>
                </a:moveTo>
                <a:cubicBezTo>
                  <a:pt x="265" y="0"/>
                  <a:pt x="270" y="4"/>
                  <a:pt x="271" y="10"/>
                </a:cubicBezTo>
                <a:cubicBezTo>
                  <a:pt x="270" y="6"/>
                  <a:pt x="267" y="4"/>
                  <a:pt x="2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3B82F6"/>
          </a:solidFill>
          <a:ln/>
        </p:spPr>
        <p:txBody>
          <a:bodyPr/>
          <a:p/>
        </p:txBody>
      </p:sp>
      <p:pic>
        <p:nvPicPr>
          <p:cNvPr id="2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638550" y="1600200"/>
            <a:ext cx="285750" cy="285750"/>
          </a:xfrm>
          <a:prstGeom prst="rect">
            <a:avLst/>
          </a:prstGeom>
          <a:ln/>
        </p:spPr>
      </p:pic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3638550" y="1981200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掩码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 +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指纹落盘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638550" y="2286000"/>
            <a:ext cx="2162175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数据库与报告里只有掩码（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448e****faab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）和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 HMAC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指纹——凭据明文永不落盘，平台不成为新泄露源。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181725" y="1390650"/>
            <a:ext cx="2590800" cy="2314575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6181725" y="1390650"/>
            <a:ext cx="2590800" cy="2314575"/>
          </a:xfrm>
          <a:custGeom>
            <a:pathLst>
              <a:path w="272" h="243">
                <a:moveTo>
                  <a:pt x="261" y="0"/>
                </a:moveTo>
                <a:cubicBezTo>
                  <a:pt x="266" y="0"/>
                  <a:pt x="271" y="4"/>
                  <a:pt x="272" y="10"/>
                </a:cubicBezTo>
                <a:cubicBezTo>
                  <a:pt x="271" y="6"/>
                  <a:pt x="268" y="4"/>
                  <a:pt x="2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0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391275" y="1600200"/>
            <a:ext cx="285750" cy="28575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391275" y="1981200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只读验活、默认关闭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391275" y="2286000"/>
            <a:ext cx="21717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验活只调用平台官方只读身份接口，全局限速、默认关闭——只为确认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钥匙是否还能开门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"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，绝不开门。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8943975" y="1390650"/>
            <a:ext cx="2581275" cy="2028825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8943975" y="1390650"/>
            <a:ext cx="2581275" cy="2028825"/>
          </a:xfrm>
          <a:custGeom>
            <a:pathLst>
              <a:path w="271" h="213">
                <a:moveTo>
                  <a:pt x="260" y="0"/>
                </a:moveTo>
                <a:cubicBezTo>
                  <a:pt x="265" y="0"/>
                  <a:pt x="270" y="4"/>
                  <a:pt x="271" y="10"/>
                </a:cubicBezTo>
                <a:cubicBezTo>
                  <a:pt x="270" y="6"/>
                  <a:pt x="267" y="4"/>
                  <a:pt x="2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06B6D4"/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153525" y="1600200"/>
            <a:ext cx="285750" cy="2857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9153525" y="1981200"/>
            <a:ext cx="2162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负责任披露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153525" y="2286000"/>
            <a:ext cx="2162175" cy="885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发现泄露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通知责任主体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给出修复建议</a:t>
            </a:r>
            <a:r>
              <a:rPr lang="en-US" sz="1200">
                <a:solidFill>
                  <a:srgbClr val="475569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475569"/>
                </a:solidFill>
                <a:latin typeface="思源黑体"/>
                <a:ea typeface="思源黑体"/>
              </a:rPr>
              <a:t>复核。不利用、不囤积、不公开明文。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66750" y="3429000"/>
            <a:ext cx="10858500" cy="1238250"/>
          </a:xfrm>
          <a:prstGeom prst="roundRect">
            <a:avLst>
              <a:gd name="adj" fmla="val 9231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933450" y="3686175"/>
            <a:ext cx="103251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为什么答辩时这页很重要：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检测类作品的特殊之处在于——你的工具每天在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接触别人的秘密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"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。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 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评委一定会查：你有没有把真实凭据存下来？有没有拿它做过什么？</a:t>
            </a:r>
            <a:r>
              <a:rPr lang="en-US" sz="1425">
                <a:solidFill>
                  <a:srgbClr val="E2E8F0"/>
                </a:solidFill>
                <a:latin typeface="思源黑体"/>
                <a:ea typeface="思源黑体"/>
              </a:rPr>
              <a:t> </a:t>
            </a:r>
            <a:r>
              <a:rPr lang="zh-CN" sz="1425">
                <a:solidFill>
                  <a:srgbClr val="E2E8F0"/>
                </a:solidFill>
                <a:latin typeface="思源黑体"/>
                <a:ea typeface="思源黑体"/>
              </a:rPr>
              <a:t>凭迹的每一份实测报告都经得起这个拷问。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09 / 11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3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跑起来 + 对照赛题：一张表交卷&lt;/Text&gt;&#13;&#10;  &lt;/Box&gt;&#13;&#10;  &lt;Box style={{ height: 540, gap: 18 }}&gt;&#13;&#10;    &lt;Box style={{ height: 120, background: '#0F172A', borderRadius: 12, padding: '16px 26px', justifyContent: 'center' }}&gt;&#13;&#10;      &lt;Text style={{ fontSize: 15, color: '#64748B', marginBottom: 8 }}&gt;三条命令，现场跑给评委看（无需任何令牌）&lt;/Text&gt;&#13;&#10;      &lt;Text style={{ fontSize: 18, fontFamily: &quot;'JetBrains Mono', Consolas, monospace&quot;, color: '#7DD3FC', lineHeight: 1.7 }}&gt;&#13;&#10;        python -m credwatch demo      # 真实数据演示：实时扫描公开渠道{'\n'}&#13;&#10;        python -m credwatch bench     # 性能基准（固定种子可复现）{'\n'}&#13;&#10;        python -m credwatch new-source xxx   # 现场演示：一分钟新增一个渠道&#13;&#10;      &lt;/Text&gt;&#13;&#10;    &lt;/Box&gt;&#13;&#10;    &lt;Box style={{ flexDirection: 'row', gap: 20, height: 260 }}&gt;&#13;&#10;      &lt;Box style={{ flex: 1.25, background: '#F8FAFC', borderRadius: 12, padding: 20, border: '1px solid #E2E8F0' }}&gt;&#13;&#10;        &lt;Text style={{ fontSize: 20, fontWeight: 'bold', color: '#0F172A' }}&gt;赛题要求 → 我们的答卷&lt;/Text&gt;&#13;&#10;        &lt;Box style={{ marginTop: 12, gap: 9 }}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渠道越多越好 → 17 个 / 11 类，插件化扩展&lt;/Text&gt;&#13;&#10;          &lt;/Box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类型越多越好 → 195 规则 / 59 种凭据类型&lt;/Text&gt;&#13;&#10;          &lt;/Box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反应越快越好 → 最快 2.4 分钟，持续调度分钟级&lt;/Text&gt;&#13;&#10;          &lt;/Box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发现数量真实 → 三轮实测 57 / 199 / 165，指纹去重可核查&lt;/Text&gt;&#13;&#10;          &lt;/Box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误报控制 + 验活 + 归属 + 处置建议 → 全部落地&lt;/Text&gt;&#13;&#10;          &lt;/Box&gt;&#13;&#10;          &lt;Box style={{ flexDirection: 'row', alignItems: 'center', gap: 10 }}&gt;&#13;&#10;            &lt;Text style={{ fontSize: 17, color: '#22C55E', fontWeight: 'bold', width: 34 }}&gt;✓&lt;/Text&gt;&#13;&#10;            &lt;Text style={{ fontSize: 16, color: '#334155' }}&gt;合规防御 + 65 单元测试 + 9 份交付文档&lt;/Text&gt;&#13;&#10;          &lt;/Box&gt;&#13;&#10;        &lt;/Box&gt;&#13;&#10;      &lt;/Box&gt;&#13;&#10;      &lt;Box style={{ flex: 1, background: 'linear-gradient(160deg, #EFF6FF 0%, #FFFFFF 100%)', borderRadius: 12, padding: 22, border: '1px solid #DBEAFE', justifyContent: 'center' }}&gt;&#13;&#10;        &lt;FAIcon name='flag-checkered' style={{ fill: '#3B82F6', width: 40, height: 40 }} /&gt;&#13;&#10;        &lt;Text style={{ fontSize: 21, fontWeight: 'bold', color: '#0F172A', marginTop: 14, lineHeight: 1.5 }}&gt;&#13;&#10;          收束一句话{'\n'}&#13;&#10;        &lt;/Text&gt;&#13;&#10;        &lt;Text style={{ fontSize: 18, color: '#334155', lineHeight: 1.7 }}&gt;&#13;&#10;          在坏人用掉那些&quot;忘在互联网上&quot;的云钥匙之前，{'\n'}&#13;&#10;          凭迹先找到它们，{'\n'}&#13;&#10;          告诉主人：&lt;Text style={{ fontWeight: 'bold', color: '#3B82F6' }}&gt;还能不能用、是谁的、该怎么换锁。&lt;/Text&gt;&#13;&#10;        &lt;/Text&gt;&#13;&#10;      &lt;/Box&gt;&#13;&#10;    &lt;/Box&gt;&#13;&#10;  &lt;/Box&gt;&#13;&#10;  &lt;Box style={{ height: 40, flexDirection: 'row', justifyContent: 'space-between', alignItems: 'center' }}&gt;&#13;&#10;    &lt;Text style={{ fontSize: 13, color: '#94A3B8' }}&gt;凭迹 CredWatch · 项目解读 · 完&lt;/Text&gt;&#13;&#10;    &lt;Text style={{ fontSize: 13, color: '#94A3B8' }}&gt;10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4657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跑起来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+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对照赛题：一张表交卷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66750" y="952500"/>
            <a:ext cx="10858500" cy="114300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914400" y="876300"/>
            <a:ext cx="10363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64748B"/>
                </a:solidFill>
                <a:latin typeface="思源黑体"/>
                <a:ea typeface="思源黑体"/>
              </a:rPr>
              <a:t>三条命令，现场跑给评委看（无需任何令牌）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14400" y="1123950"/>
            <a:ext cx="10363200" cy="1057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350">
                <a:solidFill>
                  <a:srgbClr val="7DD3FC"/>
                </a:solidFill>
                <a:latin typeface="JetBrains Mono"/>
                <a:ea typeface="JetBrains Mono"/>
              </a:rPr>
              <a:t>python -m credwatch demo      # </a:t>
            </a:r>
            <a:r>
              <a:rPr lang="zh-CN" sz="1350">
                <a:solidFill>
                  <a:srgbClr val="7DD3FC"/>
                </a:solidFill>
                <a:latin typeface="JetBrains Mono"/>
                <a:ea typeface="JetBrains Mono"/>
              </a:rPr>
              <a:t>真实数据演示：实时扫描公开渠道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7DD3FC"/>
                </a:solidFill>
                <a:latin typeface="JetBrains Mono"/>
                <a:ea typeface="JetBrains Mono"/>
              </a:rPr>
              <a:t>python -m credwatch bench     # </a:t>
            </a:r>
            <a:r>
              <a:rPr lang="zh-CN" sz="1350">
                <a:solidFill>
                  <a:srgbClr val="7DD3FC"/>
                </a:solidFill>
                <a:latin typeface="JetBrains Mono"/>
                <a:ea typeface="JetBrains Mono"/>
              </a:rPr>
              <a:t>性能基准（固定种子可复现）</a:t>
            </a:r>
            <a:endParaRPr/>
          </a:p>
          <a:p>
            <a:pPr>
              <a:lnSpc>
                <a:spcPct val="170000"/>
              </a:lnSpc>
            </a:pPr>
            <a:r>
              <a:rPr lang="en-US" sz="1350">
                <a:solidFill>
                  <a:srgbClr val="7DD3FC"/>
                </a:solidFill>
                <a:latin typeface="JetBrains Mono"/>
                <a:ea typeface="JetBrains Mono"/>
              </a:rPr>
              <a:t>python -m credwatch new-source xxx   # </a:t>
            </a:r>
            <a:r>
              <a:rPr lang="zh-CN" sz="1350">
                <a:solidFill>
                  <a:srgbClr val="7DD3FC"/>
                </a:solidFill>
                <a:latin typeface="JetBrains Mono"/>
                <a:ea typeface="JetBrains Mono"/>
              </a:rPr>
              <a:t>现场演示：一分钟新增一个渠道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66750" y="2266950"/>
            <a:ext cx="5924550" cy="247650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2457450"/>
            <a:ext cx="5543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赛题要求</a:t>
            </a: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1500" b="1">
                <a:solidFill>
                  <a:srgbClr val="0F172A"/>
                </a:solidFill>
                <a:latin typeface="思源黑体"/>
                <a:ea typeface="思源黑体"/>
              </a:rPr>
              <a:t>我们的答卷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57250" y="28003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276350" y="2809875"/>
            <a:ext cx="2981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渠道越多越好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→ 17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个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/ 11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类，插件化扩展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57250" y="3086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1276350" y="3095625"/>
            <a:ext cx="2924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类型越多越好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→ 195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规则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/ 59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种凭据类型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57250" y="33718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276350" y="33813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反应越快越好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最快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2.4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分钟，持续调度分钟级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57250" y="36576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276350" y="3667125"/>
            <a:ext cx="4057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发现数量真实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三轮实测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57 / 199 / 165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，指纹去重可核查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57250" y="394335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276350" y="3952875"/>
            <a:ext cx="3295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误报控制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验活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归属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+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处置建议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→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全部落地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22C55E"/>
                </a:solidFill>
                <a:latin typeface="思源黑体"/>
                <a:ea typeface="思源黑体"/>
              </a:rPr>
              <a:t>✓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276350" y="4238625"/>
            <a:ext cx="2752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合规防御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+ 65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单元测试</a:t>
            </a:r>
            <a:r>
              <a:rPr lang="en-US" sz="1200">
                <a:solidFill>
                  <a:srgbClr val="334155"/>
                </a:solidFill>
                <a:latin typeface="思源黑体"/>
                <a:ea typeface="思源黑体"/>
              </a:rPr>
              <a:t> + 9 </a:t>
            </a:r>
            <a:r>
              <a:rPr lang="zh-CN" sz="1200">
                <a:solidFill>
                  <a:srgbClr val="334155"/>
                </a:solidFill>
                <a:latin typeface="思源黑体"/>
                <a:ea typeface="思源黑体"/>
              </a:rPr>
              <a:t>份交付文档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6781800" y="2266950"/>
            <a:ext cx="4743450" cy="2476500"/>
          </a:xfrm>
          <a:prstGeom prst="roundRect">
            <a:avLst>
              <a:gd name="adj" fmla="val 4615"/>
            </a:avLst>
          </a:prstGeom>
          <a:gradFill>
            <a:gsLst>
              <a:gs pos="0">
                <a:srgbClr val="EFF6FF"/>
              </a:gs>
              <a:gs pos="100000">
                <a:srgbClr val="FFFFFF"/>
              </a:gs>
            </a:gsLst>
            <a:lin ang="4200000" scaled="1"/>
          </a:gradFill>
          <a:ln w="12700">
            <a:solidFill>
              <a:srgbClr val="DBEAFE"/>
            </a:solidFill>
            <a:prstDash val="solid"/>
          </a:ln>
        </p:spPr>
        <p:txBody>
          <a:bodyPr/>
          <a:p/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991350" y="2543175"/>
            <a:ext cx="381000" cy="381000"/>
          </a:xfrm>
          <a:prstGeom prst="rect">
            <a:avLst/>
          </a:prstGeom>
          <a:ln/>
        </p:spPr>
      </p:pic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991350" y="3057525"/>
            <a:ext cx="43243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0F172A"/>
                </a:solidFill>
                <a:latin typeface="思源黑体"/>
                <a:ea typeface="思源黑体"/>
              </a:rPr>
              <a:t>收束一句话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991350" y="3419475"/>
            <a:ext cx="4324350" cy="10572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在坏人用掉那些</a:t>
            </a:r>
            <a:r>
              <a:rPr lang="en-US" sz="135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忘在互联网上</a:t>
            </a:r>
            <a:r>
              <a:rPr lang="en-US" sz="1350">
                <a:solidFill>
                  <a:srgbClr val="334155"/>
                </a:solidFill>
                <a:latin typeface="思源黑体"/>
                <a:ea typeface="思源黑体"/>
              </a:rPr>
              <a:t>"</a:t>
            </a: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的云钥匙之前，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凭迹先找到它们，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告诉主人：</a:t>
            </a:r>
            <a:r>
              <a:rPr lang="zh-CN" sz="1350">
                <a:solidFill>
                  <a:srgbClr val="334155"/>
                </a:solidFill>
                <a:latin typeface="思源黑体"/>
                <a:ea typeface="思源黑体"/>
              </a:rPr>
              <a:t>还能不能用、是谁的、该怎么换锁。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762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完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10 / 11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40" name="" descr="&lt;Slide style={{ width: 1280, height: 720, background: '#FFFFFF', padding: '0 70px', fontFamily: &quot;'思源黑体', 'Microsoft YaHei', sans-serif&quot; }}&gt;&#13;&#10;  &lt;Box style={{ height: 100, flexDirection: 'row', alignItems: 'center', gap: 16, paddingTop: 24 }}&gt;&#13;&#10;    &lt;Box style={{ width: 5, height: 40, background: '#3B82F6', borderRadius: 2 }} /&gt;&#13;&#10;    &lt;Text style={{ fontSize: 34, fontWeight: 'bold', color: '#0F172A' }}&gt;一图看懂：正常 → 泄露 → 检测 → 解决&lt;/Text&gt;&#13;&#10;  &lt;/Box&gt;&#13;&#10;  &lt;Box style={{ height: 540, alignItems: 'center' }}&gt;&#13;&#10;    &lt;svg viewBox=&quot;0 0 680 568&quot; width={640} role=&quot;img&quot;&gt;&lt;title&gt;凭据泄露与检测解决全流程图&lt;/title&gt;&lt;desc&gt;四条泳道：正常、泄露、检测（凭迹，我们的项目）、解决（闭环回到安全）。&lt;/desc&gt;&lt;defs&gt;&lt;marker id=&quot;arrow&quot; viewBox=&quot;0 0 10 10&quot; refX=&quot;8&quot; refY=&quot;5&quot; markerWidth=&quot;6&quot; markerHeight=&quot;6&quot; orient=&quot;auto-start-reverse&quot;&gt;&lt;path d=&quot;M2 1L8 5L2 9&quot; fill=&quot;none&quot; stroke=&quot;context-stroke&quot; strokeWidth=&quot;1.5&quot; strokeLinecap=&quot;round&quot; strokeLinejoin=&quot;round&quot;/&gt;&lt;/marker&gt;&lt;/defs&gt;&lt;text x=&quot;40&quot; y=&quot;34&quot; fontSize=&quot;15&quot; fill=&quot;#0F172A&quot; fontWeight=&quot;500&quot; fontFamily=&quot;'思源黑体', 'Microsoft YaHei', sans-serif&quot; dominantBaseline=&quot;central&quot;&gt;凭据泄露全流程：正常 → 泄露 → 检测 → 解决&lt;/text&gt;&lt;rect x=&quot;40&quot; y=&quot;56&quot; width=&quot;600&quot; height=&quot;110&quot; rx=&quot;12&quot; fill=&quot;#EAF3DE&quot;/&gt;&lt;rect x=&quot;56&quot; y=&quot;66&quot; width=&quot;76&quot; height=&quot;22&quot; rx=&quot;11&quot; fill=&quot;#FFFFFF&quot; stroke=&quot;#97C459&quot; strokeWidth=&quot;0.75&quot;/&gt;&lt;text x=&quot;94&quot; y=&quot;77&quot; fontSize=&quot;12&quot; fill=&quot;#27500A&quot; fontWeight=&quot;500&quot; textAnchor=&quot;middle&quot; fontFamily=&quot;'思源黑体', 'Microsoft YaHei', sans-serif&quot; dominantBaseline=&quot;central&quot;&gt;① 正常&lt;/text&gt;&lt;rect x=&quot;140&quot; y=&quot;72&quot; width=&quot;210&quot; height=&quot;56&quot; rx=&quot;8&quot; fill=&quot;#FFFFFF&quot; stroke=&quot;#3B6D11&quot; strokeWidth=&quot;0.75&quot;/&gt;&lt;text x=&quot;245.0&quot; y=&quot;94&quot; fontSize=&quot;14&quot; fill=&quot;#27500A&quot; fontWeight=&quot;500&quot; textAnchor=&quot;middle&quot; fontFamily=&quot;'思源黑体', 'Microsoft YaHei', sans-serif&quot; dominantBaseline=&quot;central&quot;&gt;凭据安全托管&lt;/text&gt;&lt;text x=&quot;245.0&quot; y=&quot;115&quot; fontSize=&quot;11.5&quot; fill=&quot;#3B6D11&quot; textAnchor=&quot;middle&quot; fontFamily=&quot;'思源黑体', 'Microsoft YaHei', sans-serif&quot; dominantBaseline=&quot;central&quot;&gt;（Vault / CI 环境变量）&lt;/text&gt;&lt;path d=&quot;M354 100 L392 100&quot; fill=&quot;none&quot; stroke=&quot;#3B6D11&quot; strokeWidth=&quot;1.5&quot; strokeLinecap=&quot;round&quot; strokeLinejoin=&quot;round&quot;  markerEnd=&quot;url(#arrow)&quot;/&gt;&lt;rect x=&quot;400&quot; y=&quot;72&quot; width=&quot;200&quot; height=&quot;56&quot; rx=&quot;8&quot; fill=&quot;#FFFFFF&quot; stroke=&quot;#3B6D11&quot; strokeWidth=&quot;0.75&quot;/&gt;&lt;text x=&quot;500.0&quot; y=&quot;94&quot; fontSize=&quot;14&quot; fill=&quot;#27500A&quot; fontWeight=&quot;500&quot; textAnchor=&quot;middle&quot; fontFamily=&quot;'思源黑体', 'Microsoft YaHei', sans-serif&quot; dominantBaseline=&quot;central&quot;&gt;程序正常调用&lt;/text&gt;&lt;text x=&quot;500.0&quot; y=&quot;115&quot; fontSize=&quot;11.5&quot; fill=&quot;#3B6D11&quot; textAnchor=&quot;middle&quot; fontFamily=&quot;'思源黑体', 'Microsoft YaHei', sans-serif&quot; dominantBaseline=&quot;central&quot;&gt;云服务，一切正常&lt;/text&gt;&lt;rect x=&quot;40&quot; y=&quot;176&quot; width=&quot;600&quot; height=&quot;110&quot; rx=&quot;12&quot; fill=&quot;#FAECE7&quot;/&gt;&lt;rect x=&quot;56&quot; y=&quot;186&quot; width=&quot;76&quot; height=&quot;22&quot; rx=&quot;11&quot; fill=&quot;#FFFFFF&quot; stroke=&quot;#F0997B&quot; strokeWidth=&quot;0.75&quot;/&gt;&lt;text x=&quot;94&quot; y=&quot;197&quot; fontSize=&quot;12&quot; fill=&quot;#712B13&quot; fontWeight=&quot;500&quot; textAnchor=&quot;middle&quot; fontFamily=&quot;'思源黑体', 'Microsoft YaHei', sans-serif&quot; dominantBaseline=&quot;central&quot;&gt;② 泄露&lt;/text&gt;&lt;path d=&quot;M245 128 L245 158 L230 158 L230 186&quot; fill=&quot;none&quot; stroke=&quot;#993C1D&quot; strokeWidth=&quot;1.5&quot; strokeLinecap=&quot;round&quot; strokeLinejoin=&quot;round&quot; strokeDasharray=&quot;4 3&quot; markerEnd=&quot;url(#arrow)&quot;/&gt;&lt;text x=&quot;257&quot; y=&quot;156&quot; fontSize=&quot;12&quot; fill=&quot;#993C1D&quot; fontFamily=&quot;'思源黑体', 'Microsoft YaHei', sans-serif&quot; dominantBaseline=&quot;central&quot;&gt;一旦图省事 / 失误&lt;/text&gt;&lt;rect x=&quot;140&quot; y=&quot;192&quot; width=&quot;170&quot; height=&quot;56&quot; rx=&quot;8&quot; fill=&quot;#FFFFFF&quot; stroke=&quot;#993C1D&quot; strokeWidth=&quot;0.75&quot;/&gt;&lt;text x=&quot;225.0&quot; y=&quot;214&quot; fontSize=&quot;14&quot; fill=&quot;#712B13&quot; fontWeight=&quot;500&quot; textAnchor=&quot;middle&quot; fontFamily=&quot;'思源黑体', 'Microsoft YaHei', sans-serif&quot; dominantBaseline=&quot;central&quot;&gt;图省事的失误&lt;/text&gt;&lt;text x=&quot;225.0&quot; y=&quot;235&quot; fontSize=&quot;11.5&quot; fill=&quot;#993C1D&quot; textAnchor=&quot;middle&quot; fontFamily=&quot;'思源黑体', 'Microsoft YaHei', sans-serif&quot; dominantBaseline=&quot;central&quot;&gt;硬编码上传 / 误贴配置&lt;/text&gt;&lt;path d=&quot;M314 220 L334 220&quot; fill=&quot;none&quot; stroke=&quot;#993C1D&quot; strokeWidth=&quot;1.5&quot; strokeLinecap=&quot;round&quot; strokeLinejoin=&quot;round&quot;  markerEnd=&quot;url(#arrow)&quot;/&gt;&lt;rect x=&quot;340&quot; y=&quot;192&quot; width=&quot;160&quot; height=&quot;56&quot; rx=&quot;8&quot; fill=&quot;#F59E0B&quot; stroke=&quot;#B45309&quot; strokeWidth=&quot;0.75&quot;/&gt;&lt;text x=&quot;420&quot; y=&quot;214&quot; fontSize=&quot;14&quot; fill=&quot;#FFFFFF&quot; fontWeight=&quot;500&quot; textAnchor=&quot;middle&quot; fontFamily=&quot;'思源黑体', 'Microsoft YaHei', sans-serif&quot; dominantBaseline=&quot;central&quot;&gt;公开渠道&lt;/text&gt;&lt;text x=&quot;420&quot; y=&quot;235&quot; fontSize=&quot;11.5&quot; fill=&quot;#FFF7E6&quot; textAnchor=&quot;middle&quot; fontFamily=&quot;'思源黑体', 'Microsoft YaHei', sans-serif&quot; dominantBaseline=&quot;central&quot;&gt;Gist·Paste·镜像·App 包&lt;/text&gt;&lt;path d=&quot;M504 220 L524 220&quot; fill=&quot;none&quot; stroke=&quot;#A32D2D&quot; strokeWidth=&quot;1.5&quot; strokeLinecap=&quot;round&quot; strokeLinejoin=&quot;round&quot; strokeDasharray=&quot;4 3&quot; markerEnd=&quot;url(#arrow)&quot;/&gt;&lt;rect x=&quot;530&quot; y=&quot;192&quot; width=&quot;110&quot; height=&quot;56&quot; rx=&quot;8&quot; fill=&quot;#FFFFFF&quot; stroke=&quot;#A32D2D&quot; strokeWidth=&quot;0.75&quot;/&gt;&lt;text x=&quot;585.0&quot; y=&quot;214&quot; fontSize=&quot;14&quot; fill=&quot;#791F1F&quot; fontWeight=&quot;500&quot; textAnchor=&quot;middle&quot; fontFamily=&quot;'思源黑体', 'Microsoft YaHei', sans-serif&quot; dominantBaseline=&quot;central&quot;&gt;攻击者扫到&lt;/text&gt;&lt;text x=&quot;585.0&quot; y=&quot;235&quot; fontSize=&quot;11.5&quot; fill=&quot;#A32D2D&quot; textAnchor=&quot;middle&quot; fontFamily=&quot;'思源黑体', 'Microsoft YaHei', sans-serif&quot; dominantBaseline=&quot;central&quot;&gt;挖矿·拖库·删库&lt;/text&gt;&lt;rect x=&quot;40&quot; y=&quot;296&quot; width=&quot;600&quot; height=&quot;110&quot; rx=&quot;12&quot; fill=&quot;#E6F1FB&quot; stroke=&quot;#185FA5&quot; strokeWidth=&quot;1.5&quot; strokeDasharray=&quot;6 4&quot;/&gt;&lt;rect x=&quot;56&quot; y=&quot;306&quot; width=&quot;76&quot; height=&quot;22&quot; rx=&quot;11&quot; fill=&quot;#FFFFFF&quot; stroke=&quot;#85B7EB&quot; strokeWidth=&quot;0.75&quot;/&gt;&lt;text x=&quot;94&quot; y=&quot;317&quot; fontSize=&quot;12&quot; fill=&quot;#0C447C&quot; fontWeight=&quot;500&quot; textAnchor=&quot;middle&quot; fontFamily=&quot;'思源黑体', 'Microsoft YaHei', sans-serif&quot; dominantBaseline=&quot;central&quot;&gt;③ 检测&lt;/text&gt;&lt;path d=&quot;M420 248 L420 272 L245 272 L245 306&quot; fill=&quot;none&quot; stroke=&quot;#185FA5&quot; strokeWidth=&quot;1.5&quot; strokeLinecap=&quot;round&quot; strokeLinejoin=&quot;round&quot;  markerEnd=&quot;url(#arrow)&quot;/&gt;&lt;rect x=&quot;140&quot; y=&quot;312&quot; width=&quot;210&quot; height=&quot;56&quot; rx=&quot;8&quot; fill=&quot;#FFFFFF&quot; stroke=&quot;#185FA5&quot; strokeWidth=&quot;0.75&quot;/&gt;&lt;text x=&quot;245.0&quot; y=&quot;334&quot; fontSize=&quot;14&quot; fill=&quot;#0C447C&quot; fontWeight=&quot;500&quot; textAnchor=&quot;middle&quot; fontFamily=&quot;'思源黑体', 'Microsoft YaHei', sans-serif&quot; dominantBaseline=&quot;central&quot;&gt;凭迹 CredWatch&lt;/text&gt;&lt;text x=&quot;245.0&quot; y=&quot;355&quot; fontSize=&quot;11.5&quot; fill=&quot;#185FA5&quot; textAnchor=&quot;middle&quot; fontFamily=&quot;'思源黑体', 'Microsoft YaHei', sans-serif&quot; dominantBaseline=&quot;central&quot;&gt;7×24 持续监测公开渠道&lt;/text&gt;&lt;path d=&quot;M354 340 L392 340&quot; fill=&quot;none&quot; stroke=&quot;#185FA5&quot; strokeWidth=&quot;1.5&quot; strokeLinecap=&quot;round&quot; strokeLinejoin=&quot;round&quot;  markerEnd=&quot;url(#arrow)&quot;/&gt;&lt;rect x=&quot;400&quot; y=&quot;312&quot; width=&quot;200&quot; height=&quot;56&quot; rx=&quot;8&quot; fill=&quot;#FFFFFF&quot; stroke=&quot;#185FA5&quot; strokeWidth=&quot;0.75&quot;/&gt;&lt;text x=&quot;500.0&quot; y=&quot;334&quot; fontSize=&quot;14&quot; fill=&quot;#0C447C&quot; fontWeight=&quot;500&quot; textAnchor=&quot;middle&quot; fontFamily=&quot;'思源黑体', 'Microsoft YaHei', sans-serif&quot; dominantBaseline=&quot;central&quot;&gt;识别与验证&lt;/text&gt;&lt;text x=&quot;500.0&quot; y=&quot;355&quot; fontSize=&quot;11.5&quot; fill=&quot;#185FA5&quot; textAnchor=&quot;middle&quot; fontFamily=&quot;'思源黑体', 'Microsoft YaHei', sans-serif&quot; dominantBaseline=&quot;central&quot;&gt;195 规则·评分·去重·验活&lt;/text&gt;&lt;rect x=&quot;436&quot; y=&quot;286&quot; width=&quot;196&quot; height=&quot;20&quot; rx=&quot;10&quot; fill=&quot;#185FA5&quot;/&gt;&lt;text x=&quot;534&quot; y=&quot;296&quot; fontSize=&quot;11&quot; fill=&quot;#FFFFFF&quot; fontWeight=&quot;500&quot; textAnchor=&quot;middle&quot; fontFamily=&quot;'思源黑体', 'Microsoft YaHei', sans-serif&quot; dominantBaseline=&quot;central&quot;&gt;我们的项目 · 凭迹 CredWatch&lt;/text&gt;&lt;text x=&quot;450&quot; y=&quot;262&quot; fontSize=&quot;12&quot; fill=&quot;#475569&quot; fontFamily=&quot;'思源黑体', 'Microsoft YaHei', sans-serif&quot; dominantBaseline=&quot;central&quot;&gt;与攻击者赛跑：它几分钟内也会扫到，&lt;/text&gt;&lt;text x=&quot;450&quot; y=&quot;278&quot; fontSize=&quot;12&quot; fill=&quot;#854F0B&quot; fontWeight=&quot;500&quot; fontFamily=&quot;'思源黑体', 'Microsoft YaHei', sans-serif&quot; dominantBaseline=&quot;central&quot;&gt;凭迹最快 2.4 分钟抢先告警。&lt;/text&gt;&lt;rect x=&quot;40&quot; y=&quot;416&quot; width=&quot;600&quot; height=&quot;110&quot; rx=&quot;12&quot; fill=&quot;#E1F5EE&quot;/&gt;&lt;rect x=&quot;56&quot; y=&quot;426&quot; width=&quot;76&quot; height=&quot;22&quot; rx=&quot;11&quot; fill=&quot;#FFFFFF&quot; stroke=&quot;#5DCAA5&quot; strokeWidth=&quot;0.75&quot;/&gt;&lt;text x=&quot;94&quot; y=&quot;437&quot; fontSize=&quot;12&quot; fill=&quot;#085041&quot; fontWeight=&quot;500&quot; textAnchor=&quot;middle&quot; fontFamily=&quot;'思源黑体', 'Microsoft YaHei', sans-serif&quot; dominantBaseline=&quot;central&quot;&gt;④ 解决&lt;/text&gt;&lt;path d=&quot;M500 368 L500 386 L230 386 L230 424&quot; fill=&quot;none&quot; stroke=&quot;#0F6E56&quot; strokeWidth=&quot;1.5&quot; strokeLinecap=&quot;round&quot; strokeLinejoin=&quot;round&quot;  markerEnd=&quot;url(#arrow)&quot;/&gt;&lt;rect x=&quot;140&quot; y=&quot;432&quot; width=&quot;180&quot; height=&quot;56&quot; rx=&quot;8&quot; fill=&quot;#FFFFFF&quot; stroke=&quot;#0F6E56&quot; strokeWidth=&quot;0.75&quot;/&gt;&lt;text x=&quot;230.0&quot; y=&quot;454&quot; fontSize=&quot;14&quot; fill=&quot;#085041&quot; fontWeight=&quot;500&quot; textAnchor=&quot;middle&quot; fontFamily=&quot;'思源黑体', 'Microsoft YaHei', sans-serif&quot; dominantBaseline=&quot;central&quot;&gt;告警通知主人&lt;/text&gt;&lt;text x=&quot;230.0&quot; y=&quot;475&quot; fontSize=&quot;11.5&quot; fill=&quot;#0F6E56&quot; textAnchor=&quot;middle&quot; fontFamily=&quot;'思源黑体', 'Microsoft YaHei', sans-serif&quot; dominantBaseline=&quot;central&quot;&gt;只含掩码 · 明文不落盘&lt;/text&gt;&lt;rect x=&quot;140&quot; y=&quot;424&quot; width=&quot;76&quot; height=&quot;16&quot; rx=&quot;8&quot; fill=&quot;#185FA5&quot;/&gt;&lt;text x=&quot;178&quot; y=&quot;432&quot; fontSize=&quot;11&quot; fill=&quot;#FFFFFF&quot; fontWeight=&quot;500&quot; textAnchor=&quot;middle&quot; fontFamily=&quot;'思源黑体', 'Microsoft YaHei', sans-serif&quot; dominantBaseline=&quot;central&quot;&gt;凭迹产出&lt;/text&gt;&lt;path d=&quot;M324 460 L344 460&quot; fill=&quot;none&quot; stroke=&quot;#0F6E56&quot; strokeWidth=&quot;1.5&quot; strokeLinecap=&quot;round&quot; strokeLinejoin=&quot;round&quot;  markerEnd=&quot;url(#arrow)&quot;/&gt;&lt;rect x=&quot;350&quot; y=&quot;432&quot; width=&quot;110&quot; height=&quot;56&quot; rx=&quot;8&quot; fill=&quot;#FFFFFF&quot; stroke=&quot;#0F6E56&quot; strokeWidth=&quot;0.75&quot;/&gt;&lt;text x=&quot;405.0&quot; y=&quot;454&quot; fontSize=&quot;14&quot; fill=&quot;#085041&quot; fontWeight=&quot;500&quot; textAnchor=&quot;middle&quot; fontFamily=&quot;'思源黑体', 'Microsoft YaHei', sans-serif&quot; dominantBaseline=&quot;central&quot;&gt;吊销 / 换锁&lt;/text&gt;&lt;text x=&quot;405.0&quot; y=&quot;475&quot; fontSize=&quot;11.5&quot; fill=&quot;#0F6E56&quot; textAnchor=&quot;middle&quot; fontFamily=&quot;'思源黑体', 'Microsoft YaHei', sans-serif&quot; dominantBaseline=&quot;central&quot;&gt;密钥立即失效&lt;/text&gt;&lt;path d=&quot;M464 460 L484 460&quot; fill=&quot;none&quot; stroke=&quot;#0F6E56&quot; strokeWidth=&quot;1.5&quot; strokeLinecap=&quot;round&quot; strokeLinejoin=&quot;round&quot;  markerEnd=&quot;url(#arrow)&quot;/&gt;&lt;rect x=&quot;490&quot; y=&quot;432&quot; width=&quot;150&quot; height=&quot;56&quot; rx=&quot;8&quot; fill=&quot;#FFFFFF&quot; stroke=&quot;#0F6E56&quot; strokeWidth=&quot;0.75&quot;/&gt;&lt;text x=&quot;565.0&quot; y=&quot;454&quot; fontSize=&quot;14&quot; fill=&quot;#085041&quot; fontWeight=&quot;500&quot; textAnchor=&quot;middle&quot; fontFamily=&quot;'思源黑体', 'Microsoft YaHei', sans-serif&quot; dominantBaseline=&quot;central&quot;&gt;根因修复 + 复核&lt;/text&gt;&lt;text x=&quot;565.0&quot; y=&quot;475&quot; fontSize=&quot;11.5&quot; fill=&quot;#0F6E56&quot; textAnchor=&quot;middle&quot; fontFamily=&quot;'思源黑体', 'Microsoft YaHei', sans-serif&quot; dominantBaseline=&quot;central&quot;&gt;密钥移出代码并轮换&lt;/text&gt;&lt;path d=&quot;M626 432 L626 100 L608 100&quot; fill=&quot;none&quot; stroke=&quot;#0F6E56&quot; strokeWidth=&quot;1.5&quot; strokeLinecap=&quot;round&quot; strokeLinejoin=&quot;round&quot; strokeDasharray=&quot;5 4&quot; markerEnd=&quot;url(#arrow)&quot;/&gt;&lt;text x=&quot;390&quot; y=&quot;512&quot; fontSize=&quot;12&quot; fill=&quot;#0F6E56&quot; fontWeight=&quot;500&quot; textAnchor=&quot;middle&quot; fontFamily=&quot;'思源黑体', 'Microsoft YaHei', sans-serif&quot; dominantBaseline=&quot;central&quot;&gt;复核闭环 · 回到 ① 安全状态&lt;/text&gt;&lt;circle cx=&quot;46&quot; cy=&quot;548&quot; r=&quot;5&quot; fill=&quot;#639922&quot;/&gt;&lt;text x=&quot;58&quot; y=&quot;548&quot; fontSize=&quot;12&quot; fill=&quot;#475569&quot; fontFamily=&quot;'思源黑体', 'Microsoft YaHei', sans-serif&quot; dominantBaseline=&quot;central&quot;&gt;① 安全状态&lt;/text&gt;&lt;circle cx=&quot;150&quot; cy=&quot;548&quot; r=&quot;5&quot; fill=&quot;#E24B4A&quot;/&gt;&lt;text x=&quot;162&quot; y=&quot;548&quot; fontSize=&quot;12&quot; fill=&quot;#475569&quot; fontFamily=&quot;'思源黑体', 'Microsoft YaHei', sans-serif&quot; dominantBaseline=&quot;central&quot;&gt;② 泄露风险&lt;/text&gt;&lt;circle cx=&quot;254&quot; cy=&quot;548&quot; r=&quot;5&quot; fill=&quot;#378ADD&quot;/&gt;&lt;text x=&quot;266&quot; y=&quot;548&quot; fontSize=&quot;12&quot; fill=&quot;#475569&quot; fontFamily=&quot;'思源黑体', 'Microsoft YaHei', sans-serif&quot; dominantBaseline=&quot;central&quot;&gt;③ 检测（我们的项目）&lt;/text&gt;&lt;circle cx=&quot;413&quot; cy=&quot;548&quot; r=&quot;5&quot; fill=&quot;#1D9E75&quot;/&gt;&lt;text x=&quot;425&quot; y=&quot;548&quot; fontSize=&quot;12&quot; fill=&quot;#475569&quot; fontFamily=&quot;'思源黑体', 'Microsoft YaHei', sans-serif&quot; dominantBaseline=&quot;central&quot;&gt;④ 处置闭环&lt;/text&gt;&lt;text x=&quot;640&quot; y=&quot;548&quot; fontSize=&quot;12&quot; fill=&quot;#854F0B&quot; fontWeight=&quot;500&quot; textAnchor=&quot;end&quot; fontFamily=&quot;'思源黑体', 'Microsoft YaHei', sans-serif&quot; dominantBaseline=&quot;central&quot;&gt;实测最快 2.4 分钟抢先告警&lt;/text&gt;&lt;/svg&gt;&#13;&#10;  &lt;/Box&gt;&#13;&#10;  &lt;Box style={{ height: 40, flexDirection: 'row', justifyContent: 'space-between', alignItems: 'center' }}&gt;&#13;&#10;    &lt;Text style={{ fontSize: 13, color: '#94A3B8' }}&gt;凭迹 CredWatch · 项目解读&lt;/Text&gt;&#13;&#10;    &lt;Text style={{ fontSize: 13, color: '#94A3B8' }}&gt;11 / 11&lt;/Text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666750" y="400050"/>
            <a:ext cx="47625" cy="381000"/>
          </a:xfrm>
          <a:prstGeom prst="roundRect">
            <a:avLst>
              <a:gd name="adj" fmla="val 4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66775" y="400050"/>
            <a:ext cx="57626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一图看懂：正常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泄露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检测</a:t>
            </a:r>
            <a:r>
              <a:rPr lang="en-US" sz="2550" b="1">
                <a:solidFill>
                  <a:srgbClr val="0F172A"/>
                </a:solidFill>
                <a:latin typeface="思源黑体"/>
                <a:ea typeface="思源黑体"/>
              </a:rPr>
              <a:t> → </a:t>
            </a:r>
            <a:r>
              <a:rPr lang="zh-CN" sz="2550" b="1">
                <a:solidFill>
                  <a:srgbClr val="0F172A"/>
                </a:solidFill>
                <a:latin typeface="思源黑体"/>
                <a:ea typeface="思源黑体"/>
              </a:rPr>
              <a:t>解决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048000" y="952500"/>
            <a:ext cx="6096000" cy="51435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66750" y="6210300"/>
            <a:ext cx="1533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凭迹</a:t>
            </a: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 CredWatch · </a:t>
            </a:r>
            <a:r>
              <a:rPr lang="zh-CN" sz="975">
                <a:solidFill>
                  <a:srgbClr val="94A3B8"/>
                </a:solidFill>
                <a:latin typeface="思源黑体"/>
                <a:ea typeface="思源黑体"/>
              </a:rPr>
              <a:t>项目解读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06150" y="6210300"/>
            <a:ext cx="419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4A3B8"/>
                </a:solidFill>
                <a:latin typeface="思源黑体"/>
                <a:ea typeface="思源黑体"/>
              </a:rPr>
              <a:t>11 / 11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2026-09-13T19:01:42Z</dcterms:created>
  <dcterms:modified xsi:type="dcterms:W3CDTF">2026-09-13T19:01:42Z</dcterms:modified>
</cp:coreProperties>
</file>