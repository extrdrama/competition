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4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9" Type="http://schemas.openxmlformats.org/officeDocument/2006/relationships/image" Target="../media/image4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9" Type="http://schemas.openxmlformats.org/officeDocument/2006/relationships/image" Target="../media/image5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0F172A', padding: '0 70px', fontFamily: &quot;'思源黑体', 'Microsoft YaHei', sans-serif&quot;, position: 'relative', overflow: 'hidden' }}&gt;&#10;  &lt;Box style={{ position: 'absolute', top: 0, left: 0, width: '100%', height: 8, background: 'linear-gradient(135deg, #3B82F6 0%, #06B6D4 100%)' }} /&gt;&#10;  &lt;Box style={{ position: 'absolute', top: -60, right: -60, width: 340, height: 340, borderRadius: 200, background: 'rgba(59,130,246,0.12)' }} /&gt;&#10;  &lt;Box style={{ position: 'absolute', bottom: -80, right: 120, width: 260, height: 260, borderRadius: 150, background: 'rgba(6,182,212,0.10)' }} /&gt;&#10;  &lt;Box style={{ height: 200, justifyContent: 'center' }}&gt;&#10;    &lt;Text style={{ fontSize: 18, color: '#06B6D4', letterSpacing: 6, fontWeight: 'bold' }}&gt;网安比赛 · 揭榜挑战赛 · 题目 3 · 小白入门版&lt;/Text&gt;&#10;  &lt;/Box&gt;&#10;  &lt;Box style={{ gap: 26 }}&gt;&#10;    &lt;Box style={{ flexDirection: 'row', alignItems: 'center', gap: 24 }}&gt;&#10;      &lt;FAIcon name='key' style={{ fill: '#F59E0B', width: 64, height: 64 }} /&gt;&#10;      &lt;Text style={{ fontSize: 58, fontWeight: 'bold', color: '#FFFFFF', lineHeight: 1.2 }}&gt;读懂这道赛题&lt;/Text&gt;&#10;    &lt;/Box&gt;&#10;    &lt;Text style={{ fontSize: 36, fontWeight: 'bold', color: '#E2E8F0' }}&gt;云上凭据泄露的自动化检测&lt;/Text&gt;&#10;    &lt;Text style={{ fontSize: 22, color: '#94A3B8', lineHeight: 1.6 }}&gt;&#10;      在写第一行代码之前，先用 8 页搞清楚：&lt;Text style={{ color: '#F59E0B', fontWeight: 'bold' }}&gt;凭据是什么、为什么泄露可怕、赛题要你造什么、红线在哪&lt;/Text&gt;&#10;    &lt;/Text&gt;&#10;  &lt;/Box&gt;&#10;  &lt;Box style={{ position: 'absolute', bottom: 40, left: 70, right: 70, flexDirection: 'row', justifyContent: 'space-between' }}&gt;&#10;    &lt;Text style={{ fontSize: 14, color: '#64748B' }}&gt;赛题解读 · 小白版&lt;/Text&gt;&#10;    &lt;Text style={{ fontSize: 14, color: '#64748B' }}&gt;01 / 0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666750" y="847725"/>
            <a:ext cx="10858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 spc="450">
                <a:solidFill>
                  <a:srgbClr val="06B6D4"/>
                </a:solidFill>
                <a:latin typeface="思源黑体"/>
                <a:ea typeface="思源黑体"/>
              </a:rPr>
              <a:t>网安比赛</a:t>
            </a:r>
            <a:r>
              <a:rPr lang="en-US" sz="1350" b="1" spc="450">
                <a:solidFill>
                  <a:srgbClr val="06B6D4"/>
                </a:solidFill>
                <a:latin typeface="思源黑体"/>
                <a:ea typeface="思源黑体"/>
              </a:rPr>
              <a:t> · </a:t>
            </a:r>
            <a:r>
              <a:rPr lang="zh-CN" sz="1350" b="1" spc="450">
                <a:solidFill>
                  <a:srgbClr val="06B6D4"/>
                </a:solidFill>
                <a:latin typeface="思源黑体"/>
                <a:ea typeface="思源黑体"/>
              </a:rPr>
              <a:t>揭榜挑战赛</a:t>
            </a:r>
            <a:r>
              <a:rPr lang="en-US" sz="1350" b="1" spc="450">
                <a:solidFill>
                  <a:srgbClr val="06B6D4"/>
                </a:solidFill>
                <a:latin typeface="思源黑体"/>
                <a:ea typeface="思源黑体"/>
              </a:rPr>
              <a:t> · </a:t>
            </a:r>
            <a:r>
              <a:rPr lang="zh-CN" sz="1350" b="1" spc="450">
                <a:solidFill>
                  <a:srgbClr val="06B6D4"/>
                </a:solidFill>
                <a:latin typeface="思源黑体"/>
                <a:ea typeface="思源黑体"/>
              </a:rPr>
              <a:t>题目</a:t>
            </a:r>
            <a:r>
              <a:rPr lang="en-US" sz="1350" b="1" spc="450">
                <a:solidFill>
                  <a:srgbClr val="06B6D4"/>
                </a:solidFill>
                <a:latin typeface="思源黑体"/>
                <a:ea typeface="思源黑体"/>
              </a:rPr>
              <a:t> 3 · </a:t>
            </a:r>
            <a:r>
              <a:rPr lang="zh-CN" sz="1350" b="1" spc="450">
                <a:solidFill>
                  <a:srgbClr val="06B6D4"/>
                </a:solidFill>
                <a:latin typeface="思源黑体"/>
                <a:ea typeface="思源黑体"/>
              </a:rPr>
              <a:t>小白入门版</a:t>
            </a:r>
            <a:endParaRPr/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750" y="2000250"/>
            <a:ext cx="609600" cy="609600"/>
          </a:xfrm>
          <a:prstGeom prst="rect">
            <a:avLst/>
          </a:prstGeom>
          <a:ln/>
        </p:spPr>
      </p:pic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1504950" y="1905000"/>
            <a:ext cx="3314700" cy="800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zh-CN" sz="4350" b="1">
                <a:solidFill>
                  <a:srgbClr val="FFFFFF"/>
                </a:solidFill>
                <a:latin typeface="思源黑体"/>
                <a:ea typeface="思源黑体"/>
              </a:rPr>
              <a:t>读懂这道赛题</a:t>
            </a:r>
            <a:endParaRPr/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666750" y="2952750"/>
            <a:ext cx="108585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2E8F0"/>
                </a:solidFill>
                <a:latin typeface="思源黑体"/>
                <a:ea typeface="思源黑体"/>
              </a:rPr>
              <a:t>云上凭据泄露的自动化检测</a:t>
            </a:r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666750" y="3619500"/>
            <a:ext cx="10858500" cy="4095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94A3B8"/>
                </a:solidFill>
                <a:latin typeface="思源黑体"/>
                <a:ea typeface="思源黑体"/>
              </a:rPr>
              <a:t>在写第一行代码之前，先用</a:t>
            </a:r>
            <a:r>
              <a:rPr lang="en-US" sz="1650">
                <a:solidFill>
                  <a:srgbClr val="94A3B8"/>
                </a:solidFill>
                <a:latin typeface="思源黑体"/>
                <a:ea typeface="思源黑体"/>
              </a:rPr>
              <a:t> 8 </a:t>
            </a:r>
            <a:r>
              <a:rPr lang="zh-CN" sz="1650">
                <a:solidFill>
                  <a:srgbClr val="94A3B8"/>
                </a:solidFill>
                <a:latin typeface="思源黑体"/>
                <a:ea typeface="思源黑体"/>
              </a:rPr>
              <a:t>页搞清楚：凭据是什么、为什么泄露可怕、赛题要你造什么、红线在哪</a:t>
            </a:r>
            <a:endParaRPr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9" name="任意多边形: 形状 8"/>
          <p:cNvSpPr/>
          <p:nvPr/>
        </p:nvSpPr>
        <p:spPr>
          <a:xfrm>
            <a:off x="9525000" y="-571500"/>
            <a:ext cx="3238500" cy="3238500"/>
          </a:xfrm>
          <a:custGeom>
            <a:avLst/>
            <a:gdLst/>
            <a:ahLst/>
            <a:cxnLst/>
            <a:rect l="0" t="0" r="0" b="0"/>
            <a:pathLst>
              <a:path w="340" h="340">
                <a:moveTo>
                  <a:pt x="280" y="300"/>
                </a:moveTo>
                <a:cubicBezTo>
                  <a:pt x="213" y="357"/>
                  <a:pt x="112" y="353"/>
                  <a:pt x="50" y="290"/>
                </a:cubicBezTo>
                <a:cubicBezTo>
                  <a:pt x="-13" y="228"/>
                  <a:pt x="-17" y="127"/>
                  <a:pt x="40" y="60"/>
                </a:cubicBezTo>
                <a:lnTo>
                  <a:pt x="280" y="60"/>
                </a:lnTo>
                <a:close/>
              </a:path>
            </a:pathLst>
          </a:cu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任意多边形: 形状 9"/>
          <p:cNvSpPr/>
          <p:nvPr/>
        </p:nvSpPr>
        <p:spPr>
          <a:xfrm>
            <a:off x="8572500" y="5143500"/>
            <a:ext cx="2476500" cy="2476500"/>
          </a:xfrm>
          <a:custGeom>
            <a:avLst/>
            <a:gdLst/>
            <a:ahLst/>
            <a:cxnLst/>
            <a:rect l="0" t="0" r="0" b="0"/>
            <a:pathLst>
              <a:path w="260" h="260">
                <a:moveTo>
                  <a:pt x="133" y="0"/>
                </a:moveTo>
                <a:cubicBezTo>
                  <a:pt x="176" y="1"/>
                  <a:pt x="216" y="23"/>
                  <a:pt x="239" y="59"/>
                </a:cubicBezTo>
                <a:cubicBezTo>
                  <a:pt x="262" y="95"/>
                  <a:pt x="266" y="140"/>
                  <a:pt x="250" y="180"/>
                </a:cubicBezTo>
                <a:lnTo>
                  <a:pt x="10" y="180"/>
                </a:lnTo>
                <a:cubicBezTo>
                  <a:pt x="-7" y="140"/>
                  <a:pt x="-2" y="94"/>
                  <a:pt x="22" y="58"/>
                </a:cubicBezTo>
                <a:cubicBezTo>
                  <a:pt x="46" y="22"/>
                  <a:pt x="87" y="0"/>
                  <a:pt x="130" y="0"/>
                </a:cubicBezTo>
                <a:close/>
              </a:path>
            </a:pathLst>
          </a:cu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666750" y="6315075"/>
            <a:ext cx="10477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赛题解读</a:t>
            </a: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小白版</a:t>
            </a:r>
            <a:endParaRPr/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11068050" y="63150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01 / 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padding: '0 70px', fontFamily: &quot;'思源黑体', 'Microsoft YaHei', sans-serif&quot; }}&gt;&#10;  &lt;Box style={{ height: 100, flexDirection: 'row', alignItems: 'center', gap: 16, paddingTop: 24 }}&gt;&#10;    &lt;Box style={{ width: 5, height: 40, background: '#3B82F6', borderRadius: 2 }} /&gt;&#10;    &lt;Text style={{ fontSize: 34, fontWeight: 'bold', color: '#0F172A' }}&gt;先认识主角：什么是&quot;凭据&quot;？&lt;/Text&gt;&#10;  &lt;/Box&gt;&#10;  &lt;Box style={{ height: 540, gap: 24 }}&gt;&#10;    &lt;Box style={{ flexDirection: 'row', gap: 24, height: 200 }}&gt;&#10;      &lt;Box style={{ flex: 1, background: '#EFF6FF', borderRadius: 12, padding: 24, border: '1px solid #DBEAFE' }}&gt;&#10;        &lt;Box style={{ flexDirection: 'row', alignItems: 'center', gap: 12 }}&gt;&#10;          &lt;FAIcon name='key' style={{ fill: '#3B82F6', width: 28, height: 28 }} /&gt;&#10;          &lt;Text style={{ fontSize: 24, fontWeight: 'bold', color: '#0F172A' }}&gt;一句话定义&lt;/Text&gt;&#10;        &lt;/Box&gt;&#10;        &lt;Text style={{ fontSize: 21, color: '#334155', lineHeight: 1.6, marginTop: 14 }}&gt;&#10;          凭据就是&lt;Text style={{ fontWeight: 'bold', color: '#3B82F6' }}&gt;云上资源的&quot;钥匙&quot;&lt;/Text&gt;——人登录系统用账号密码，&#10;          &lt;Text style={{ fontWeight: 'bold' }}&gt;程序访问云服务用的就是凭据&lt;/Text&gt;。谁拿到它，谁就能以&quot;合法身份&quot;操作你的云账号。&#10;        &lt;/Text&gt;&#10;      &lt;/Box&gt;&#10;      &lt;Box style={{ flex: 1, background: '#FFFBEB', borderRadius: 12, padding: 24, border: '1px solid #FDE68A' }}&gt;&#10;        &lt;Box style={{ flexDirection: 'row', alignItems: 'center', gap: 12 }}&gt;&#10;          &lt;FAIcon name='id-badge' style={{ fill: '#F59E0B', width: 28, height: 28 }} /&gt;&#10;          &lt;Text style={{ fontSize: 24, fontWeight: 'bold', color: '#0F172A' }}&gt;常见的几把&quot;钥匙&quot;&lt;/Text&gt;&#10;        &lt;/Box&gt;&#10;        &lt;Text style={{ fontSize: 20, color: '#334155', lineHeight: 1.7, marginTop: 14 }}&gt;&#10;          · 云 AccessKey / SecretKey（阿里云、AWS）{'\n'}&#10;          · API Token（OpenAI、GitHub 等）{'\n'}&#10;          · 数据库连接串（含账号密码）{'\n'}&#10;          · SSH 私钥 / OAuth Client Secret&#10;        &lt;/Text&gt;&#10;      &lt;/Box&gt;&#10;    &lt;/Box&gt;&#10;    &lt;Box style={{ height: 150, background: '#0F172A', borderRadius: 12, padding: '20px 28px', justifyContent: 'center' }}&gt;&#10;      &lt;Text style={{ fontSize: 15, color: '#64748B', marginBottom: 10 }}&gt;长什么样？（伪造示例，仅示意格式）&lt;/Text&gt;&#10;      &lt;Text style={{ fontSize: 19, fontFamily: &quot;'JetBrains Mono', Consolas, monospace&quot;, color: '#06B6D4' }}&gt;&#10;        ALIYUN_ACCESS_KEY_ID     = LTAI5tAbCdEfGh123456&#10;      &lt;/Text&gt;&#10;      &lt;Text style={{ fontSize: 19, fontFamily: &quot;'JetBrains Mono', Consolas, monospace&quot;, color: '#F59E0B', marginTop: 6 }}&gt;&#10;        ALIYUN_ACCESS_KEY_SECRET = MHk3xR9pQ2sT8uVwXyZ0aB1cD4fG6hJ8kL2m&#10;      &lt;/Text&gt;&#10;    &lt;/Box&gt;&#10;    &lt;Box style={{ height: 130, flexDirection: 'row', alignItems: 'center', gap: 20, background: '#F8FAFC', borderRadius: 12, padding: '0 28px', border: '1px solid #E2E8F0' }}&gt;&#10;      &lt;FAIcon name='lightbulb' style={{ fill: '#06B6D4', width: 40, height: 40 }} /&gt;&#10;      &lt;Text style={{ fontSize: 21, color: '#334155', lineHeight: 1.6 }}&gt;&#10;        &lt;Text style={{ fontWeight: 'bold' }}&gt;记忆锚点&lt;/Text&gt;：你家的钥匙丢了，小偷不用撬门——开门就行。{'\n'}&#10;        云凭据泄露也一样：&lt;Text style={{ fontWeight: 'bold', color: '#3B82F6' }}&gt;不需要任何&quot;黑客攻击&quot;，拿着钥匙大大方方走进去。&lt;/Text&gt;&#10;      &lt;/Text&gt;&#10;    &lt;/Box&gt;&#10;  &lt;/Box&gt;&#10;  &lt;Box style={{ height: 40, flexDirection: 'row', justifyContent: 'space-between', alignItems: 'center' }}&gt;&#10;    &lt;Text style={{ fontSize: 13, color: '#94A3B8' }}&gt;赛题解读 · 小白版&lt;/Text&gt;&#10;    &lt;Text style={{ fontSize: 13, color: '#94A3B8' }}&gt;02 / 0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矩形: 圆角 14"/>
          <p:cNvSpPr/>
          <p:nvPr/>
        </p:nvSpPr>
        <p:spPr>
          <a:xfrm>
            <a:off x="666750" y="40005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866775" y="400050"/>
            <a:ext cx="42291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先认识主角：什么是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凭据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？</a:t>
            </a:r>
            <a:endParaRPr/>
          </a:p>
        </p:txBody>
      </p:sp>
      <p:sp>
        <p:nvSpPr>
          <p:cNvPr id="17" name="矩形: 圆角 16"/>
          <p:cNvSpPr/>
          <p:nvPr/>
        </p:nvSpPr>
        <p:spPr>
          <a:xfrm>
            <a:off x="666750" y="952500"/>
            <a:ext cx="5314950" cy="2019300"/>
          </a:xfrm>
          <a:prstGeom prst="roundRect">
            <a:avLst>
              <a:gd name="adj" fmla="val 566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图形 1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350" y="1190625"/>
            <a:ext cx="266700" cy="266700"/>
          </a:xfrm>
          <a:prstGeom prst="rect">
            <a:avLst/>
          </a:prstGeom>
          <a:ln/>
        </p:spPr>
      </p:pic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1276350" y="1181100"/>
            <a:ext cx="11430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思源黑体"/>
                <a:ea typeface="思源黑体"/>
              </a:rPr>
              <a:t>一句话定义</a:t>
            </a:r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895350" y="1590675"/>
            <a:ext cx="4857750" cy="1152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334155"/>
                </a:solidFill>
                <a:latin typeface="思源黑体"/>
                <a:ea typeface="思源黑体"/>
              </a:rPr>
              <a:t>凭据就是云上资源的</a:t>
            </a:r>
            <a:r>
              <a:rPr lang="en-US" sz="15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75">
                <a:solidFill>
                  <a:srgbClr val="334155"/>
                </a:solidFill>
                <a:latin typeface="思源黑体"/>
                <a:ea typeface="思源黑体"/>
              </a:rPr>
              <a:t>钥匙</a:t>
            </a:r>
            <a:r>
              <a:rPr lang="en-US" sz="15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75">
                <a:solidFill>
                  <a:srgbClr val="334155"/>
                </a:solidFill>
                <a:latin typeface="思源黑体"/>
                <a:ea typeface="思源黑体"/>
              </a:rPr>
              <a:t>——人登录系统用账号密码，程序访问云服务用的就是凭据。谁拿到它，谁就能以</a:t>
            </a:r>
            <a:r>
              <a:rPr lang="en-US" sz="15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75">
                <a:solidFill>
                  <a:srgbClr val="334155"/>
                </a:solidFill>
                <a:latin typeface="思源黑体"/>
                <a:ea typeface="思源黑体"/>
              </a:rPr>
              <a:t>合法身份</a:t>
            </a:r>
            <a:r>
              <a:rPr lang="en-US" sz="15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75">
                <a:solidFill>
                  <a:srgbClr val="334155"/>
                </a:solidFill>
                <a:latin typeface="思源黑体"/>
                <a:ea typeface="思源黑体"/>
              </a:rPr>
              <a:t>操作你的云账号。</a:t>
            </a:r>
            <a:endParaRPr/>
          </a:p>
        </p:txBody>
      </p:sp>
      <p:sp>
        <p:nvSpPr>
          <p:cNvPr id="21" name="矩形: 圆角 20"/>
          <p:cNvSpPr/>
          <p:nvPr/>
        </p:nvSpPr>
        <p:spPr>
          <a:xfrm>
            <a:off x="6210300" y="952501"/>
            <a:ext cx="5314950" cy="2019300"/>
          </a:xfrm>
          <a:prstGeom prst="roundRect">
            <a:avLst>
              <a:gd name="adj" fmla="val 470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图形 2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8900" y="1190625"/>
            <a:ext cx="266700" cy="266700"/>
          </a:xfrm>
          <a:prstGeom prst="rect">
            <a:avLst/>
          </a:prstGeom>
          <a:ln/>
        </p:spPr>
      </p:pic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6819900" y="1181100"/>
            <a:ext cx="18478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思源黑体"/>
                <a:ea typeface="思源黑体"/>
              </a:rPr>
              <a:t>常见的几把</a:t>
            </a:r>
            <a:r>
              <a:rPr lang="en-US" sz="180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800" b="1">
                <a:solidFill>
                  <a:srgbClr val="0F172A"/>
                </a:solidFill>
                <a:latin typeface="思源黑体"/>
                <a:ea typeface="思源黑体"/>
              </a:rPr>
              <a:t>钥匙</a:t>
            </a:r>
            <a:r>
              <a:rPr lang="en-US" sz="180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6438900" y="1409701"/>
            <a:ext cx="4857750" cy="1562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· 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云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 AccessKey / SecretKey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（阿里云、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AWS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）</a:t>
            </a:r>
            <a:endParaRPr/>
          </a:p>
          <a:p>
            <a:pPr>
              <a:lnSpc>
                <a:spcPct val="170000"/>
              </a:lnSpc>
            </a:pP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· API Token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（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OpenAI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、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GitHub 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等）</a:t>
            </a:r>
            <a:endParaRPr/>
          </a:p>
          <a:p>
            <a:pPr>
              <a:lnSpc>
                <a:spcPct val="170000"/>
              </a:lnSpc>
            </a:pP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· 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数据库连接串（含账号密码）</a:t>
            </a:r>
            <a:endParaRPr/>
          </a:p>
          <a:p>
            <a:pPr>
              <a:lnSpc>
                <a:spcPct val="170000"/>
              </a:lnSpc>
            </a:pP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· SSH 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私钥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 / OAuth Client Secret</a:t>
            </a:r>
            <a:endParaRPr/>
          </a:p>
        </p:txBody>
      </p:sp>
      <p:sp>
        <p:nvSpPr>
          <p:cNvPr id="25" name="矩形: 圆角 24"/>
          <p:cNvSpPr/>
          <p:nvPr/>
        </p:nvSpPr>
        <p:spPr>
          <a:xfrm>
            <a:off x="666750" y="3086100"/>
            <a:ext cx="10858500" cy="142875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933450" y="3419475"/>
            <a:ext cx="103251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思源黑体"/>
                <a:ea typeface="思源黑体"/>
              </a:rPr>
              <a:t>长什么样？（伪造示例，仅示意格式）</a:t>
            </a:r>
            <a:endParaRPr/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933450" y="3686175"/>
            <a:ext cx="103251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06B6D4"/>
                </a:solidFill>
                <a:latin typeface="JetBrains Mono"/>
                <a:ea typeface="JetBrains Mono"/>
              </a:rPr>
              <a:t>ALIYUN_ACCESS_KEY_ID     = LTAI5tAbCdEfGh123456</a:t>
            </a:r>
            <a:endParaRPr/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933450" y="3962400"/>
            <a:ext cx="103251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F59E0B"/>
                </a:solidFill>
                <a:latin typeface="JetBrains Mono"/>
                <a:ea typeface="JetBrains Mono"/>
              </a:rPr>
              <a:t>ALIYUN_ACCESS_KEY_SECRET = MHk3xR9pQ2sT8uVwXyZ0aB1cD4fG6hJ8kL2m</a:t>
            </a:r>
            <a:endParaRPr/>
          </a:p>
        </p:txBody>
      </p:sp>
      <p:sp>
        <p:nvSpPr>
          <p:cNvPr id="29" name="矩形: 圆角 28"/>
          <p:cNvSpPr/>
          <p:nvPr/>
        </p:nvSpPr>
        <p:spPr>
          <a:xfrm>
            <a:off x="666750" y="4743450"/>
            <a:ext cx="10858500" cy="123825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0" name="图形 2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3450" y="5172075"/>
            <a:ext cx="381000" cy="381000"/>
          </a:xfrm>
          <a:prstGeom prst="rect">
            <a:avLst/>
          </a:prstGeom>
          <a:ln/>
        </p:spPr>
      </p:pic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1504950" y="4981575"/>
            <a:ext cx="6381750" cy="771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334155"/>
                </a:solidFill>
                <a:latin typeface="思源黑体"/>
                <a:ea typeface="思源黑体"/>
              </a:rPr>
              <a:t>记忆锚点：你家的钥匙丢了，小偷不用撬门——开门就行。</a:t>
            </a:r>
            <a:endParaRPr/>
          </a:p>
          <a:p>
            <a:pPr>
              <a:lnSpc>
                <a:spcPct val="160000"/>
              </a:lnSpc>
            </a:pPr>
            <a:r>
              <a:rPr lang="zh-CN" sz="1575">
                <a:solidFill>
                  <a:srgbClr val="334155"/>
                </a:solidFill>
                <a:latin typeface="思源黑体"/>
                <a:ea typeface="思源黑体"/>
              </a:rPr>
              <a:t>云凭据泄露也一样：不需要任何</a:t>
            </a:r>
            <a:r>
              <a:rPr lang="en-US" sz="15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75">
                <a:solidFill>
                  <a:srgbClr val="334155"/>
                </a:solidFill>
                <a:latin typeface="思源黑体"/>
                <a:ea typeface="思源黑体"/>
              </a:rPr>
              <a:t>黑客攻击</a:t>
            </a:r>
            <a:r>
              <a:rPr lang="en-US" sz="15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75">
                <a:solidFill>
                  <a:srgbClr val="334155"/>
                </a:solidFill>
                <a:latin typeface="思源黑体"/>
                <a:ea typeface="思源黑体"/>
              </a:rPr>
              <a:t>，拿着钥匙大大方方走进去。</a:t>
            </a:r>
            <a:endParaRPr/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666750" y="6210300"/>
            <a:ext cx="9715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赛题解读</a:t>
            </a: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小白版</a:t>
            </a:r>
            <a:endParaRPr/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11106150" y="62103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02 / 08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padding: '0 70px', fontFamily: &quot;'思源黑体', 'Microsoft YaHei', sans-serif&quot; }}&gt;&#10;  &lt;Box style={{ height: 100, flexDirection: 'row', alignItems: 'center', gap: 16, paddingTop: 24 }}&gt;&#10;    &lt;Box style={{ width: 5, height: 40, background: '#3B82F6', borderRadius: 2 }} /&gt;&#10;    &lt;Text style={{ fontSize: 34, fontWeight: 'bold', color: '#0F172A' }}&gt;泄露为什么可怕：不用&quot;攻&quot;，门就开了&lt;/Text&gt;&#10;  &lt;/Box&gt;&#10;  &lt;Box style={{ height: 540, gap: 22 }}&gt;&#10;    &lt;Box style={{ height: 150, background: 'linear-gradient(135deg, #0F172A 0%, #1E3A5F 100%)', borderRadius: 12, padding: '22px 30px', justifyContent: 'center' }}&gt;&#10;      &lt;Text style={{ fontSize: 30, fontWeight: 'bold', color: '#FFFFFF', lineHeight: 1.5 }}&gt;&#10;        防火墙挡的是&quot;撬门的人&quot;，&lt;Text style={{ color: '#F59E0B' }}&gt;挡不住&quot;拿着钥匙的人&quot;。&lt;/Text&gt;&#10;      &lt;/Text&gt;&#10;      &lt;Text style={{ fontSize: 20, color: '#94A3B8', marginTop: 10 }}&gt;&#10;        用泄露凭据调用云 API，在日志里看起来就是一次正常的程序访问——传统安全防护几乎全部失效。&#10;      &lt;/Text&gt;&#10;    &lt;/Box&gt;&#10;    &lt;Box style={{ flexDirection: 'row', gap: 20, height: 210 }}&gt;&#10;      &lt;Box style={{ flex: 1, background: '#FFF7ED', borderRadius: 12, padding: 22, border: '1px solid #FED7AA' }}&gt;&#10;        &lt;FAIcon name='coins' style={{ fill: '#F59E0B', width: 34, height: 34 }} /&gt;&#10;        &lt;Text style={{ fontSize: 22, fontWeight: 'bold', color: '#0F172A', marginTop: 12 }}&gt;钱包被掏空&lt;/Text&gt;&#10;        &lt;Text style={{ fontSize: 18, color: '#475569', lineHeight: 1.55, marginTop: 8 }}&gt;&#10;          拿你的云账号开几百台机器挖矿，账单按小时往上跳。真实案例中出现过一夜数十万元的账单。&#10;        &lt;/Text&gt;&#10;      &lt;/Box&gt;&#10;      &lt;Box style={{ flex: 1, background: '#FFF7ED', borderRadius: 12, padding: 22, border: '1px solid #FED7AA' }}&gt;&#10;        &lt;FAIcon name='database' style={{ fill: '#F59E0B', width: 34, height: 34 }} /&gt;&#10;        &lt;Text style={{ fontSize: 22, fontWeight: 'bold', color: '#0F172A', marginTop: 12 }}&gt;数据被拖走&lt;/Text&gt;&#10;        &lt;Text style={{ fontSize: 18, color: '#475569', lineHeight: 1.55, marginTop: 8 }}&gt;&#10;          数据库、对象存储桶里的用户数据被批量下载——泄露的是凭据，丢的是全部业务数据。&#10;        &lt;/Text&gt;&#10;      &lt;/Box&gt;&#10;      &lt;Box style={{ flex: 1, background: '#FFF7ED', borderRadius: 12, padding: 22, border: '1px solid #FED7AA' }}&gt;&#10;        &lt;FAIcon name='trash' style={{ fill: '#F59E0B', width: 34, height: 34 }} /&gt;&#10;        &lt;Text style={{ fontSize: 22, fontWeight: 'bold', color: '#0F172A', marginTop: 12 }}&gt;家被拆了&lt;/Text&gt;&#10;        &lt;Text style={{ fontSize: 18, color: '#475569', lineHeight: 1.55, marginTop: 8 }}&gt;&#10;          删除服务器、清空存储桶、留勒索信——恢复成本极高，且攻击全程&quot;合法操作&quot;。&#10;        &lt;/Text&gt;&#10;      &lt;/Box&gt;&#10;    &lt;/Box&gt;&#10;    &lt;Box style={{ height: 110, flexDirection: 'row', alignItems: 'center', gap: 18, background: '#F8FAFC', borderRadius: 12, padding: '0 28px', border: '1px solid #E2E8F0' }}&gt;&#10;      &lt;FAIcon name='clock' style={{ fill: '#3B82F6', width: 36, height: 36 }} /&gt;&#10;      &lt;Text style={{ fontSize: 20, color: '#334155', lineHeight: 1.6 }}&gt;&#10;        更要命的是&lt;Text style={{ fontWeight: 'bold', color: '#3B82F6' }}&gt;时间差&lt;/Text&gt;：行业里凭据从&quot;贴出去&quot;到&quot;被人发现&quot;，&#10;        往往以天甚至月计——而这道赛题要压缩的核心指标就是它。&#10;      &lt;/Text&gt;&#10;    &lt;/Box&gt;&#10;  &lt;/Box&gt;&#10;  &lt;Box style={{ height: 40, flexDirection: 'row', justifyContent: 'space-between', alignItems: 'center' }}&gt;&#10;    &lt;Text style={{ fontSize: 13, color: '#94A3B8' }}&gt;赛题解读 · 小白版&lt;/Text&gt;&#10;    &lt;Text style={{ fontSize: 13, color: '#94A3B8' }}&gt;03 / 0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矩形: 圆角 35"/>
          <p:cNvSpPr/>
          <p:nvPr/>
        </p:nvSpPr>
        <p:spPr>
          <a:xfrm>
            <a:off x="666750" y="40005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866775" y="400050"/>
            <a:ext cx="55245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泄露为什么可怕：不用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攻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，门就开了</a:t>
            </a:r>
            <a:endParaRPr/>
          </a:p>
        </p:txBody>
      </p:sp>
      <p:sp>
        <p:nvSpPr>
          <p:cNvPr id="38" name="矩形: 圆角 37"/>
          <p:cNvSpPr/>
          <p:nvPr/>
        </p:nvSpPr>
        <p:spPr>
          <a:xfrm>
            <a:off x="666750" y="952500"/>
            <a:ext cx="10858500" cy="142875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0F172A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952500" y="1247775"/>
            <a:ext cx="10287000" cy="514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2250" b="1">
                <a:solidFill>
                  <a:srgbClr val="FFFFFF"/>
                </a:solidFill>
                <a:latin typeface="思源黑体"/>
                <a:ea typeface="思源黑体"/>
              </a:rPr>
              <a:t>防火墙挡的是</a:t>
            </a:r>
            <a:r>
              <a:rPr lang="en-US" sz="2250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2250" b="1">
                <a:solidFill>
                  <a:srgbClr val="FFFFFF"/>
                </a:solidFill>
                <a:latin typeface="思源黑体"/>
                <a:ea typeface="思源黑体"/>
              </a:rPr>
              <a:t>撬门的人</a:t>
            </a:r>
            <a:r>
              <a:rPr lang="en-US" sz="2250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2250" b="1">
                <a:solidFill>
                  <a:srgbClr val="FFFFFF"/>
                </a:solidFill>
                <a:latin typeface="思源黑体"/>
                <a:ea typeface="思源黑体"/>
              </a:rPr>
              <a:t>，挡不住</a:t>
            </a:r>
            <a:r>
              <a:rPr lang="en-US" sz="2250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2250" b="1">
                <a:solidFill>
                  <a:srgbClr val="FFFFFF"/>
                </a:solidFill>
                <a:latin typeface="思源黑体"/>
                <a:ea typeface="思源黑体"/>
              </a:rPr>
              <a:t>拿着钥匙的人</a:t>
            </a:r>
            <a:r>
              <a:rPr lang="en-US" sz="2250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2250" b="1">
                <a:solidFill>
                  <a:srgbClr val="FFFFFF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952500" y="1857375"/>
            <a:ext cx="10287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94A3B8"/>
                </a:solidFill>
                <a:latin typeface="思源黑体"/>
                <a:ea typeface="思源黑体"/>
              </a:rPr>
              <a:t>用泄露凭据调用云</a:t>
            </a:r>
            <a:r>
              <a:rPr lang="en-US" sz="1500">
                <a:solidFill>
                  <a:srgbClr val="94A3B8"/>
                </a:solidFill>
                <a:latin typeface="思源黑体"/>
                <a:ea typeface="思源黑体"/>
              </a:rPr>
              <a:t> API</a:t>
            </a:r>
            <a:r>
              <a:rPr lang="zh-CN" sz="1500">
                <a:solidFill>
                  <a:srgbClr val="94A3B8"/>
                </a:solidFill>
                <a:latin typeface="思源黑体"/>
                <a:ea typeface="思源黑体"/>
              </a:rPr>
              <a:t>，在日志里看起来就是一次正常的程序访问——传统安全防护几乎全部失效。</a:t>
            </a:r>
            <a:endParaRPr/>
          </a:p>
        </p:txBody>
      </p:sp>
      <p:sp>
        <p:nvSpPr>
          <p:cNvPr id="41" name="矩形: 圆角 40"/>
          <p:cNvSpPr/>
          <p:nvPr/>
        </p:nvSpPr>
        <p:spPr>
          <a:xfrm>
            <a:off x="666750" y="2590800"/>
            <a:ext cx="3495675" cy="2152650"/>
          </a:xfrm>
          <a:prstGeom prst="roundRect">
            <a:avLst>
              <a:gd name="adj" fmla="val 531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2" name="图形 4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" y="2800350"/>
            <a:ext cx="323850" cy="323850"/>
          </a:xfrm>
          <a:prstGeom prst="rect">
            <a:avLst/>
          </a:prstGeom>
          <a:ln/>
        </p:spPr>
      </p:pic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876300" y="3238500"/>
            <a:ext cx="30765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钱包被掏空</a:t>
            </a:r>
            <a:endParaRPr/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876300" y="3571875"/>
            <a:ext cx="3076575" cy="962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拿你的云账号开几百台机器挖矿，账单按小时往上跳。真实案例中出现过一夜数十万元的账单。</a:t>
            </a:r>
            <a:endParaRPr/>
          </a:p>
        </p:txBody>
      </p:sp>
      <p:sp>
        <p:nvSpPr>
          <p:cNvPr id="45" name="矩形: 圆角 44"/>
          <p:cNvSpPr/>
          <p:nvPr/>
        </p:nvSpPr>
        <p:spPr>
          <a:xfrm>
            <a:off x="4352925" y="2590800"/>
            <a:ext cx="3486150" cy="2152650"/>
          </a:xfrm>
          <a:prstGeom prst="roundRect">
            <a:avLst>
              <a:gd name="adj" fmla="val 531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6" name="图形 4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62475" y="2800350"/>
            <a:ext cx="323850" cy="323850"/>
          </a:xfrm>
          <a:prstGeom prst="rect">
            <a:avLst/>
          </a:prstGeom>
          <a:ln/>
        </p:spPr>
      </p:pic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4562475" y="3238500"/>
            <a:ext cx="30670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数据被拖走</a:t>
            </a:r>
            <a:endParaRPr/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4562475" y="3571875"/>
            <a:ext cx="3067050" cy="962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数据库、对象存储桶里的用户数据被批量下载——泄露的是凭据，丢的是全部业务数据。</a:t>
            </a:r>
            <a:endParaRPr/>
          </a:p>
        </p:txBody>
      </p:sp>
      <p:sp>
        <p:nvSpPr>
          <p:cNvPr id="49" name="矩形: 圆角 48"/>
          <p:cNvSpPr/>
          <p:nvPr/>
        </p:nvSpPr>
        <p:spPr>
          <a:xfrm>
            <a:off x="8029575" y="2590800"/>
            <a:ext cx="3495675" cy="2152650"/>
          </a:xfrm>
          <a:prstGeom prst="roundRect">
            <a:avLst>
              <a:gd name="adj" fmla="val 531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0" name="图形 4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9125" y="2800350"/>
            <a:ext cx="323850" cy="323850"/>
          </a:xfrm>
          <a:prstGeom prst="rect">
            <a:avLst/>
          </a:prstGeom>
          <a:ln/>
        </p:spPr>
      </p:pic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8239125" y="3238500"/>
            <a:ext cx="30765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家被拆了</a:t>
            </a:r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8239125" y="3571875"/>
            <a:ext cx="3076575" cy="962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删除服务器、清空存储桶、留勒索信——恢复成本极高，且攻击全程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合法操作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53" name="矩形: 圆角 52"/>
          <p:cNvSpPr/>
          <p:nvPr/>
        </p:nvSpPr>
        <p:spPr>
          <a:xfrm>
            <a:off x="666750" y="4800600"/>
            <a:ext cx="10858500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4" name="图形 53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3450" y="5153025"/>
            <a:ext cx="342900" cy="342900"/>
          </a:xfrm>
          <a:prstGeom prst="rect">
            <a:avLst/>
          </a:prstGeom>
          <a:ln/>
        </p:spPr>
      </p:pic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1438275" y="5143500"/>
            <a:ext cx="9820275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更要命的是时间差：行业里凭据从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贴出去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到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被人发现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，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 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往往以天甚至月计——而这道赛题要压缩的核心指标就是它。</a:t>
            </a:r>
            <a:endParaRPr/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666750" y="6210300"/>
            <a:ext cx="9715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赛题解读</a:t>
            </a: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小白版</a:t>
            </a:r>
            <a:endParaRPr/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11106150" y="62103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03 / 08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padding: '0 70px', fontFamily: &quot;'思源黑体', 'Microsoft YaHei', sans-serif&quot; }}&gt;&#10;  &lt;Box style={{ height: 100, flexDirection: 'row', alignItems: 'center', gap: 16, paddingTop: 24 }}&gt;&#10;    &lt;Box style={{ width: 5, height: 40, background: '#3B82F6', borderRadius: 2 }} /&gt;&#10;    &lt;Text style={{ fontSize: 34, fontWeight: 'bold', color: '#0F172A' }}&gt;钥匙是怎么漏到街上的？四个真实场景&lt;/Text&gt;&#10;  &lt;/Box&gt;&#10;  &lt;Box style={{ height: 540, gap: 20 }}&gt;&#10;    &lt;Text style={{ fontSize: 21, color: '#475569', lineHeight: 1.5 }}&gt;&#10;      没有哪个开发者想泄露凭据——它们几乎全是&lt;Text style={{ fontWeight: 'bold', color: '#3B82F6' }}&gt;&quot;图省事&quot;的副作用&lt;/Text&gt;。&#10;      这四个场景，正好对应赛题要求监测的公开渠道类型：&#10;    &lt;/Text&gt;&#10;    &lt;Box style={{ flexDirection: 'row', gap: 18, height: 220 }}&gt;&#10;      &lt;Box style={{ flex: 1, background: '#F8FAFC', borderRadius: 12, padding: 20, borderTop: '4px solid #3B82F6' }}&gt;&#10;        &lt;FAIcon name='github' style={{ fill: '#3B82F6', width: 32, height: 32 }} /&gt;&#10;        &lt;Text style={{ fontSize: 21, fontWeight: 'bold', color: '#0F172A', marginTop: 10 }}&gt;代码托管平台&lt;/Text&gt;&#10;        &lt;Text style={{ fontSize: 17, color: '#475569', lineHeight: 1.55, marginTop: 8 }}&gt;&#10;          调试时把密钥硬编码进代码，仓库设成公开就忘了改——GitHub 上每天都能搜到。&#10;        &lt;/Text&gt;&#10;      &lt;/Box&gt;&#10;      &lt;Box style={{ flex: 1, background: '#F8FAFC', borderRadius: 12, padding: 20, borderTop: '4px solid #3B82F6' }}&gt;&#10;        &lt;FAIcon name='clipboard' style={{ fill: '#3B82F6', width: 32, height: 32 }} /&gt;&#10;        &lt;Text style={{ fontSize: 21, fontWeight: 'bold', color: '#0F172A', marginTop: 10 }}&gt;Paste 分享站&lt;/Text&gt;&#10;        &lt;Text style={{ fontSize: 17, color: '#475569', lineHeight: 1.55, marginTop: 8 }}&gt;&#10;          报错日志、配置文件往 Pastebin 一贴求人帮忙，以为&quot;链接不公开&quot;就安全。&#10;        &lt;/Text&gt;&#10;      &lt;/Box&gt;&#10;      &lt;Box style={{ flex: 1, background: '#F8FAFC', borderRadius: 12, padding: 20, borderTop: '4px solid #06B6D4' }}&gt;&#10;        &lt;FAIcon name='cube' style={{ fill: '#06B6D4', width: 32, height: 32 }} /&gt;&#10;        &lt;Text style={{ fontSize: 21, fontWeight: 'bold', color: '#0F172A', marginTop: 10 }}&gt;容器镜像层&lt;/Text&gt;&#10;        &lt;Text style={{ fontSize: 17, color: '#475569', lineHeight: 1.55, marginTop: 8 }}&gt;&#10;          Dockerfile 里用 ENV 传过密钥，后来删了——但镜像的&quot;历史层&quot;里永远留着。&#10;        &lt;/Text&gt;&#10;      &lt;/Box&gt;&#10;      &lt;Box style={{ flex: 1, background: '#F8FAFC', borderRadius: 12, padding: 20, borderTop: '4px solid #06B6D4' }}&gt;&#10;        &lt;FAIcon name='mobile' style={{ fill: '#06B6D4', width: 32, height: 32 }} /&gt;&#10;        &lt;Text style={{ fontSize: 21, fontWeight: 'bold', color: '#0F172A', marginTop: 10 }}&gt;App 与小程序包&lt;/Text&gt;&#10;        &lt;Text style={{ fontSize: 17, color: '#475569', lineHeight: 1.55, marginTop: 8 }}&gt;&#10;          把 AppSecret 打进 APK 或小程序包发给用户——解包工具一打开就看得见。&#10;        &lt;/Text&gt;&#10;      &lt;/Box&gt;&#10;    &lt;/Box&gt;&#10;    &lt;Box style={{ height: 120, flexDirection: 'row', alignItems: 'center', gap: 18, background: '#FFFBEB', borderRadius: 12, padding: '0 28px', border: '1px solid #FDE68A' }}&gt;&#10;      &lt;FAIcon name='rss' style={{ fill: '#F59E0B', width: 34, height: 34 }} /&gt;&#10;      &lt;Text style={{ fontSize: 20, color: '#334155', lineHeight: 1.6 }}&gt;&#10;        共同点：它们都在&lt;Text style={{ fontWeight: 'bold' }}&gt;公开渠道上&lt;/Text&gt;。所以赛题的方向就是——&#10;        &lt;Text style={{ fontWeight: 'bold', color: '#3B82F6' }}&gt;到这些公开渠道上，把漏出去的钥匙&quot;找回来&quot;（在它们被坏人用掉之前）。&lt;/Text&gt;&#10;      &lt;/Text&gt;&#10;    &lt;/Box&gt;&#10;  &lt;/Box&gt;&#10;  &lt;Box style={{ height: 40, flexDirection: 'row', justifyContent: 'space-between', alignItems: 'center' }}&gt;&#10;    &lt;Text style={{ fontSize: 13, color: '#94A3B8' }}&gt;赛题解读 · 小白版&lt;/Text&gt;&#10;    &lt;Text style={{ fontSize: 13, color: '#94A3B8' }}&gt;04 / 0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矩形: 圆角 59"/>
          <p:cNvSpPr/>
          <p:nvPr/>
        </p:nvSpPr>
        <p:spPr>
          <a:xfrm>
            <a:off x="666750" y="40005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866775" y="400050"/>
            <a:ext cx="55054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钥匙是怎么漏到街上的？四个真实场景</a:t>
            </a:r>
            <a:endParaRPr/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666750" y="952500"/>
            <a:ext cx="108585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475569"/>
                </a:solidFill>
                <a:latin typeface="思源黑体"/>
                <a:ea typeface="思源黑体"/>
              </a:rPr>
              <a:t>没有哪个开发者想泄露凭据——它们几乎全是</a:t>
            </a:r>
            <a:r>
              <a:rPr lang="en-US" sz="15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575">
                <a:solidFill>
                  <a:srgbClr val="475569"/>
                </a:solidFill>
                <a:latin typeface="思源黑体"/>
                <a:ea typeface="思源黑体"/>
              </a:rPr>
              <a:t>图省事</a:t>
            </a:r>
            <a:r>
              <a:rPr lang="en-US" sz="15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575">
                <a:solidFill>
                  <a:srgbClr val="475569"/>
                </a:solidFill>
                <a:latin typeface="思源黑体"/>
                <a:ea typeface="思源黑体"/>
              </a:rPr>
              <a:t>的副作用。</a:t>
            </a:r>
            <a:r>
              <a:rPr lang="en-US" sz="1575">
                <a:solidFill>
                  <a:srgbClr val="475569"/>
                </a:solidFill>
                <a:latin typeface="思源黑体"/>
                <a:ea typeface="思源黑体"/>
              </a:rPr>
              <a:t> </a:t>
            </a:r>
            <a:r>
              <a:rPr lang="zh-CN" sz="1575">
                <a:solidFill>
                  <a:srgbClr val="475569"/>
                </a:solidFill>
                <a:latin typeface="思源黑体"/>
                <a:ea typeface="思源黑体"/>
              </a:rPr>
              <a:t>这四个场景，正好对应赛题要求监测的公开渠道类型：</a:t>
            </a:r>
            <a:endParaRPr/>
          </a:p>
        </p:txBody>
      </p:sp>
      <p:sp>
        <p:nvSpPr>
          <p:cNvPr id="63" name="矩形: 圆角 62"/>
          <p:cNvSpPr/>
          <p:nvPr/>
        </p:nvSpPr>
        <p:spPr>
          <a:xfrm>
            <a:off x="666750" y="1543050"/>
            <a:ext cx="259080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" name="任意多边形: 形状 63"/>
          <p:cNvSpPr/>
          <p:nvPr/>
        </p:nvSpPr>
        <p:spPr>
          <a:xfrm>
            <a:off x="666750" y="1543050"/>
            <a:ext cx="2590800" cy="2095500"/>
          </a:xfrm>
          <a:custGeom>
            <a:avLst/>
            <a:gdLst/>
            <a:ahLst/>
            <a:cxnLst/>
            <a:rect l="0" t="0" r="0" b="0"/>
            <a:pathLst>
              <a:path w="272" h="220">
                <a:moveTo>
                  <a:pt x="261" y="0"/>
                </a:moveTo>
                <a:cubicBezTo>
                  <a:pt x="266" y="0"/>
                  <a:pt x="271" y="4"/>
                  <a:pt x="272" y="10"/>
                </a:cubicBezTo>
                <a:cubicBezTo>
                  <a:pt x="271" y="6"/>
                  <a:pt x="268" y="4"/>
                  <a:pt x="264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5" name="图形 6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250" y="1733550"/>
            <a:ext cx="304800" cy="304800"/>
          </a:xfrm>
          <a:prstGeom prst="rect">
            <a:avLst/>
          </a:prstGeom>
          <a:ln/>
        </p:spPr>
      </p:pic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857250" y="2133600"/>
            <a:ext cx="22098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思源黑体"/>
                <a:ea typeface="思源黑体"/>
              </a:rPr>
              <a:t>代码托管平台</a:t>
            </a:r>
            <a:endParaRPr/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857250" y="2457450"/>
            <a:ext cx="2209800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调试时把密钥硬编码进代码，仓库设成公开就忘了改——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GitHub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上每天都能搜到。</a:t>
            </a:r>
            <a:endParaRPr/>
          </a:p>
        </p:txBody>
      </p:sp>
      <p:sp>
        <p:nvSpPr>
          <p:cNvPr id="68" name="矩形: 圆角 67"/>
          <p:cNvSpPr/>
          <p:nvPr/>
        </p:nvSpPr>
        <p:spPr>
          <a:xfrm>
            <a:off x="3429000" y="1543050"/>
            <a:ext cx="2581275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任意多边形: 形状 68"/>
          <p:cNvSpPr/>
          <p:nvPr/>
        </p:nvSpPr>
        <p:spPr>
          <a:xfrm>
            <a:off x="3429000" y="1543050"/>
            <a:ext cx="2581275" cy="2095500"/>
          </a:xfrm>
          <a:custGeom>
            <a:avLst/>
            <a:gdLst/>
            <a:ahLst/>
            <a:cxnLst/>
            <a:rect l="0" t="0" r="0" b="0"/>
            <a:pathLst>
              <a:path w="271" h="220">
                <a:moveTo>
                  <a:pt x="260" y="0"/>
                </a:moveTo>
                <a:cubicBezTo>
                  <a:pt x="265" y="0"/>
                  <a:pt x="270" y="4"/>
                  <a:pt x="271" y="10"/>
                </a:cubicBezTo>
                <a:cubicBezTo>
                  <a:pt x="270" y="6"/>
                  <a:pt x="267" y="4"/>
                  <a:pt x="263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0" name="图形 6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500" y="1733550"/>
            <a:ext cx="304800" cy="304800"/>
          </a:xfrm>
          <a:prstGeom prst="rect">
            <a:avLst/>
          </a:prstGeom>
          <a:ln/>
        </p:spPr>
      </p:pic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3619500" y="2133600"/>
            <a:ext cx="22002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F172A"/>
                </a:solidFill>
                <a:latin typeface="思源黑体"/>
                <a:ea typeface="思源黑体"/>
              </a:rPr>
              <a:t>Paste </a:t>
            </a:r>
            <a:r>
              <a:rPr lang="zh-CN" sz="1575" b="1">
                <a:solidFill>
                  <a:srgbClr val="0F172A"/>
                </a:solidFill>
                <a:latin typeface="思源黑体"/>
                <a:ea typeface="思源黑体"/>
              </a:rPr>
              <a:t>分享站</a:t>
            </a:r>
            <a:endParaRPr/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3619500" y="2457450"/>
            <a:ext cx="2200275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报错日志、配置文件往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 Pastebin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一贴求人帮忙，以为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链接不公开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就安全。</a:t>
            </a:r>
            <a:endParaRPr/>
          </a:p>
        </p:txBody>
      </p:sp>
      <p:sp>
        <p:nvSpPr>
          <p:cNvPr id="73" name="矩形: 圆角 72"/>
          <p:cNvSpPr/>
          <p:nvPr/>
        </p:nvSpPr>
        <p:spPr>
          <a:xfrm>
            <a:off x="6181725" y="1543050"/>
            <a:ext cx="259080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" name="任意多边形: 形状 73"/>
          <p:cNvSpPr/>
          <p:nvPr/>
        </p:nvSpPr>
        <p:spPr>
          <a:xfrm>
            <a:off x="6181725" y="1543050"/>
            <a:ext cx="2590800" cy="2095500"/>
          </a:xfrm>
          <a:custGeom>
            <a:avLst/>
            <a:gdLst/>
            <a:ahLst/>
            <a:cxnLst/>
            <a:rect l="0" t="0" r="0" b="0"/>
            <a:pathLst>
              <a:path w="272" h="220">
                <a:moveTo>
                  <a:pt x="261" y="0"/>
                </a:moveTo>
                <a:cubicBezTo>
                  <a:pt x="266" y="0"/>
                  <a:pt x="271" y="4"/>
                  <a:pt x="272" y="10"/>
                </a:cubicBezTo>
                <a:cubicBezTo>
                  <a:pt x="271" y="6"/>
                  <a:pt x="268" y="4"/>
                  <a:pt x="264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0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5" name="图形 74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72225" y="1733550"/>
            <a:ext cx="304800" cy="304800"/>
          </a:xfrm>
          <a:prstGeom prst="rect">
            <a:avLst/>
          </a:prstGeom>
          <a:ln/>
        </p:spPr>
      </p:pic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6372225" y="2133600"/>
            <a:ext cx="22098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思源黑体"/>
                <a:ea typeface="思源黑体"/>
              </a:rPr>
              <a:t>容器镜像层</a:t>
            </a:r>
            <a:endParaRPr/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6372225" y="2457450"/>
            <a:ext cx="2209800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Dockerfile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里用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 ENV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传过密钥，后来删了——但镜像的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历史层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里永远留着。</a:t>
            </a:r>
            <a:endParaRPr/>
          </a:p>
        </p:txBody>
      </p:sp>
      <p:sp>
        <p:nvSpPr>
          <p:cNvPr id="78" name="矩形: 圆角 77"/>
          <p:cNvSpPr/>
          <p:nvPr/>
        </p:nvSpPr>
        <p:spPr>
          <a:xfrm>
            <a:off x="8943975" y="1543050"/>
            <a:ext cx="2581275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" name="任意多边形: 形状 78"/>
          <p:cNvSpPr/>
          <p:nvPr/>
        </p:nvSpPr>
        <p:spPr>
          <a:xfrm>
            <a:off x="8943975" y="1543050"/>
            <a:ext cx="2581275" cy="2095500"/>
          </a:xfrm>
          <a:custGeom>
            <a:avLst/>
            <a:gdLst/>
            <a:ahLst/>
            <a:cxnLst/>
            <a:rect l="0" t="0" r="0" b="0"/>
            <a:pathLst>
              <a:path w="271" h="220">
                <a:moveTo>
                  <a:pt x="260" y="0"/>
                </a:moveTo>
                <a:cubicBezTo>
                  <a:pt x="265" y="0"/>
                  <a:pt x="270" y="4"/>
                  <a:pt x="271" y="10"/>
                </a:cubicBezTo>
                <a:cubicBezTo>
                  <a:pt x="270" y="6"/>
                  <a:pt x="267" y="4"/>
                  <a:pt x="263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0" name="图形 79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4475" y="1733550"/>
            <a:ext cx="304800" cy="304800"/>
          </a:xfrm>
          <a:prstGeom prst="rect">
            <a:avLst/>
          </a:prstGeom>
          <a:ln/>
        </p:spPr>
      </p:pic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9134475" y="2133600"/>
            <a:ext cx="22002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F172A"/>
                </a:solidFill>
                <a:latin typeface="思源黑体"/>
                <a:ea typeface="思源黑体"/>
              </a:rPr>
              <a:t>App </a:t>
            </a:r>
            <a:r>
              <a:rPr lang="zh-CN" sz="1575" b="1">
                <a:solidFill>
                  <a:srgbClr val="0F172A"/>
                </a:solidFill>
                <a:latin typeface="思源黑体"/>
                <a:ea typeface="思源黑体"/>
              </a:rPr>
              <a:t>与小程序包</a:t>
            </a:r>
            <a:endParaRPr/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9134475" y="2457450"/>
            <a:ext cx="2200275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把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 AppSecret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打进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 APK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或小程序包发给用户——解包工具一打开就看得见。</a:t>
            </a:r>
            <a:endParaRPr/>
          </a:p>
        </p:txBody>
      </p:sp>
      <p:sp>
        <p:nvSpPr>
          <p:cNvPr id="83" name="矩形: 圆角 82"/>
          <p:cNvSpPr/>
          <p:nvPr/>
        </p:nvSpPr>
        <p:spPr>
          <a:xfrm>
            <a:off x="666750" y="3790950"/>
            <a:ext cx="10858500" cy="11430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4" name="图形 83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3450" y="4200525"/>
            <a:ext cx="323850" cy="323850"/>
          </a:xfrm>
          <a:prstGeom prst="rect">
            <a:avLst/>
          </a:prstGeom>
          <a:ln/>
        </p:spPr>
      </p:pic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1409700" y="4000500"/>
            <a:ext cx="9848850" cy="733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共同点：它们都在公开渠道上。所以赛题的方向就是——到这些公开渠道上，把漏出去的钥匙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找回来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（在它们被坏人用掉之前）。</a:t>
            </a:r>
            <a:endParaRPr/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666750" y="6210300"/>
            <a:ext cx="9715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赛题解读</a:t>
            </a: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小白版</a:t>
            </a:r>
            <a:endParaRPr/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11106150" y="62103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04 / 08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padding: '0 70px', fontFamily: &quot;'思源黑体', 'Microsoft YaHei', sans-serif&quot; }}&gt;&#10;  &lt;Box style={{ height: 100, flexDirection: 'row', alignItems: 'center', gap: 16, paddingTop: 24 }}&gt;&#10;    &lt;Box style={{ width: 5, height: 40, background: '#3B82F6', borderRadius: 2 }} /&gt;&#10;    &lt;Text style={{ fontSize: 34, fontWeight: 'bold', color: '#0F172A' }}&gt;赛题让你造什么：一台持续盯梢的&quot;泄露雷达&quot;&lt;/Text&gt;&#10;  &lt;/Box&gt;&#10;  &lt;Box style={{ height: 540, gap: 20 }}&gt;&#10;    &lt;Box style={{ height: 130, background: '#EFF6FF', borderRadius: 12, padding: '18px 28px', justifyContent: 'center', border: '1px solid #DBEAFE' }}&gt;&#10;      &lt;Text style={{ fontSize: 22, color: '#1E3A5F', lineHeight: 1.6 }}&gt;&#10;        赛题是&lt;Text style={{ fontWeight: 'bold', color: '#3B82F6' }}&gt;防御向&lt;/Text&gt;的：造一个自动化平台，&#10;        &lt;Text style={{ fontWeight: 'bold' }}&gt;持续监测互联网公开渠道&lt;/Text&gt;，自动发现其中暴露的云凭据，&#10;        并告诉责任主体——&lt;Text style={{ fontWeight: 'bold' }}&gt;谁泄露的、密钥还能不能用、该怎么处理。&lt;/Text&gt;&#10;      &lt;/Text&gt;&#10;    &lt;/Box&gt;&#10;    &lt;Box style={{ height: 250, flexDirection: 'row', alignItems: 'center', gap: 14 }}&gt;&#10;      &lt;Box style={{ width: 300, height: 200, background: '#F8FAFC', borderRadius: 12, border: '1px solid #E2E8F0', padding: 18, justifyContent: 'center' }}&gt;&#10;        &lt;FAIcon name='globe' style={{ fill: '#3B82F6', width: 34, height: 34 }} /&gt;&#10;        &lt;Text style={{ fontSize: 21, fontWeight: 'bold', color: '#0F172A', marginTop: 10 }}&gt;公开渠道&lt;/Text&gt;&#10;        &lt;Text style={{ fontSize: 16, color: '#475569', lineHeight: 1.5, marginTop: 6 }}&gt;&#10;          代码托管、Paste 站、包仓库、容器镜像、Wiki、App 包……&#10;        &lt;/Text&gt;&#10;      &lt;/Box&gt;&#10;      &lt;FAIcon name='arrow-right' style={{ fill: '#94A3B8', width: 26, height: 26 }} /&gt;&#10;      &lt;Box style={{ flex: 1, height: 220, background: 'linear-gradient(135deg, #3B82F6 0%, #06B6D4 100%)', borderRadius: 12, padding: 20, justifyContent: 'center', boxShadow: '0 4px 20px rgba(59,130,246,0.25)' }}&gt;&#10;        &lt;Box style={{ flexDirection: 'row', alignItems: 'center', gap: 12 }}&gt;&#10;          &lt;FAIcon name='broadcast-tower' style={{ fill: '#FFFFFF', width: 34, height: 34 }} /&gt;&#10;          &lt;Text style={{ fontSize: 24, fontWeight: 'bold', color: '#FFFFFF' }}&gt;你要造的&quot;雷达&quot;平台&lt;/Text&gt;&#10;        &lt;/Box&gt;&#10;        &lt;Text style={{ fontSize: 17, color: '#E0F2FE', lineHeight: 1.6, marginTop: 10 }}&gt;&#10;          ① 持续扫描这些渠道{'\n'}&#10;          ② 从海量文本里识别&quot;这串字符是凭据&quot;{'\n'}&#10;          ③ 判断真假、是否仍可用、属于谁{'\n'}&#10;          ④ 告警并给出处置建议&#10;        &lt;/Text&gt;&#10;      &lt;/Box&gt;&#10;      &lt;FAIcon name='arrow-right' style={{ fill: '#94A3B8', width: 26, height: 26 }} /&gt;&#10;      &lt;Box style={{ width: 300, height: 200, background: '#F8FAFC', borderRadius: 12, border: '1px solid #E2E8F0', padding: 18, justifyContent: 'center' }}&gt;&#10;        &lt;FAIcon name='bell' style={{ fill: '#F59E0B', width: 34, height: 34 }} /&gt;&#10;        &lt;Text style={{ fontSize: 21, fontWeight: 'bold', color: '#0F172A', marginTop: 10 }}&gt;责任主体收到告警&lt;/Text&gt;&#10;        &lt;Text style={{ fontSize: 16, color: '#475569', lineHeight: 1.5, marginTop: 6 }}&gt;&#10;          在坏人用掉钥匙之前吊销它、换锁、堵住根因。&#10;        &lt;/Text&gt;&#10;      &lt;/Box&gt;&#10;    &lt;/Box&gt;&#10;    &lt;Box style={{ height: 110, flexDirection: 'row', alignItems: 'center', gap: 18, background: '#F8FAFC', borderRadius: 12, padding: '0 28px', border: '1px solid #E2E8F0' }}&gt;&#10;      &lt;FAIcon name='sitemap' style={{ fill: '#06B6D4', width: 34, height: 34 }} /&gt;&#10;      &lt;Text style={{ fontSize: 20, color: '#334155', lineHeight: 1.6 }}&gt;&#10;        难点不在&quot;写个爬虫&quot;，而在：&lt;Text style={{ fontWeight: 'bold' }}&gt;① 渠道又多又杂（要可扩展）；② 判断&quot;这串字符是不是凭据&quot;（要少误报）；&#10;        ③ 发现要快（要时效性）。&lt;/Text&gt;——这正是赛题评分的三个核心维度。&#10;      &lt;/Text&gt;&#10;    &lt;/Box&gt;&#10;  &lt;/Box&gt;&#10;  &lt;Box style={{ height: 40, flexDirection: 'row', justifyContent: 'space-between', alignItems: 'center' }}&gt;&#10;    &lt;Text style={{ fontSize: 13, color: '#94A3B8' }}&gt;赛题解读 · 小白版&lt;/Text&gt;&#10;    &lt;Text style={{ fontSize: 13, color: '#94A3B8' }}&gt;05 / 0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矩形 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0" name="矩形: 圆角 89"/>
          <p:cNvSpPr/>
          <p:nvPr/>
        </p:nvSpPr>
        <p:spPr>
          <a:xfrm>
            <a:off x="666750" y="40005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866775" y="400050"/>
            <a:ext cx="64960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赛题让你造什么：一台持续盯梢的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泄露雷达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92" name="矩形: 圆角 91"/>
          <p:cNvSpPr/>
          <p:nvPr/>
        </p:nvSpPr>
        <p:spPr>
          <a:xfrm>
            <a:off x="666750" y="952500"/>
            <a:ext cx="10858500" cy="1238250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933450" y="1171575"/>
            <a:ext cx="10325100" cy="809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1E3A5F"/>
                </a:solidFill>
                <a:latin typeface="思源黑体"/>
                <a:ea typeface="思源黑体"/>
              </a:rPr>
              <a:t>赛题是防御向的：造一个自动化平台，持续监测互联网公开渠道，自动发现其中暴露的云凭据，</a:t>
            </a:r>
            <a:r>
              <a:rPr lang="en-US" sz="1650">
                <a:solidFill>
                  <a:srgbClr val="1E3A5F"/>
                </a:solidFill>
                <a:latin typeface="思源黑体"/>
                <a:ea typeface="思源黑体"/>
              </a:rPr>
              <a:t> </a:t>
            </a:r>
            <a:r>
              <a:rPr lang="zh-CN" sz="1650">
                <a:solidFill>
                  <a:srgbClr val="1E3A5F"/>
                </a:solidFill>
                <a:latin typeface="思源黑体"/>
                <a:ea typeface="思源黑体"/>
              </a:rPr>
              <a:t>并告诉责任主体——谁泄露的、密钥还能不能用、该怎么处理。</a:t>
            </a:r>
            <a:endParaRPr/>
          </a:p>
        </p:txBody>
      </p:sp>
      <p:sp>
        <p:nvSpPr>
          <p:cNvPr id="94" name="矩形: 圆角 93"/>
          <p:cNvSpPr/>
          <p:nvPr/>
        </p:nvSpPr>
        <p:spPr>
          <a:xfrm>
            <a:off x="666750" y="2619375"/>
            <a:ext cx="2857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5" name="图形 9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933700"/>
            <a:ext cx="323850" cy="323850"/>
          </a:xfrm>
          <a:prstGeom prst="rect">
            <a:avLst/>
          </a:prstGeom>
          <a:ln/>
        </p:spPr>
      </p:pic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838200" y="3352800"/>
            <a:ext cx="25146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思源黑体"/>
                <a:ea typeface="思源黑体"/>
              </a:rPr>
              <a:t>公开渠道</a:t>
            </a:r>
            <a:endParaRPr/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838200" y="3657600"/>
            <a:ext cx="25146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代码托管、</a:t>
            </a: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>Paste 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站、包仓库、容器镜像、</a:t>
            </a: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>Wiki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、</a:t>
            </a: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>App 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包……</a:t>
            </a:r>
            <a:endParaRPr/>
          </a:p>
        </p:txBody>
      </p:sp>
      <p:pic>
        <p:nvPicPr>
          <p:cNvPr id="98" name="图形 9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3448050"/>
            <a:ext cx="247650" cy="247650"/>
          </a:xfrm>
          <a:prstGeom prst="rect">
            <a:avLst/>
          </a:prstGeom>
          <a:ln/>
        </p:spPr>
      </p:pic>
      <p:sp>
        <p:nvSpPr>
          <p:cNvPr id="99" name="矩形: 圆角 98"/>
          <p:cNvSpPr/>
          <p:nvPr/>
        </p:nvSpPr>
        <p:spPr>
          <a:xfrm>
            <a:off x="4038600" y="2524125"/>
            <a:ext cx="4114800" cy="2095500"/>
          </a:xfrm>
          <a:prstGeom prst="roundRect">
            <a:avLst>
              <a:gd name="adj" fmla="val 5455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  <a:effectLst>
            <a:outerShdw blurRad="190500" dist="38100" dir="5400000">
              <a:srgbClr val="3B82F6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0" name="图形 9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29100" y="2743200"/>
            <a:ext cx="323850" cy="323850"/>
          </a:xfrm>
          <a:prstGeom prst="rect">
            <a:avLst/>
          </a:prstGeom>
          <a:ln/>
        </p:spPr>
      </p:pic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4667250" y="2771775"/>
            <a:ext cx="2076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思源黑体"/>
                <a:ea typeface="思源黑体"/>
              </a:rPr>
              <a:t>你要造的</a:t>
            </a:r>
            <a:r>
              <a:rPr lang="en-US" sz="1800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1800" b="1">
                <a:solidFill>
                  <a:srgbClr val="FFFFFF"/>
                </a:solidFill>
                <a:latin typeface="思源黑体"/>
                <a:ea typeface="思源黑体"/>
              </a:rPr>
              <a:t>雷达</a:t>
            </a:r>
            <a:r>
              <a:rPr lang="en-US" sz="1800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1800" b="1">
                <a:solidFill>
                  <a:srgbClr val="FFFFFF"/>
                </a:solidFill>
                <a:latin typeface="思源黑体"/>
                <a:ea typeface="思源黑体"/>
              </a:rPr>
              <a:t>平台</a:t>
            </a:r>
            <a:endParaRPr/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4229100" y="3162300"/>
            <a:ext cx="3733800" cy="1247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275">
                <a:solidFill>
                  <a:srgbClr val="E0F2FE"/>
                </a:solidFill>
                <a:latin typeface="思源黑体"/>
                <a:ea typeface="思源黑体"/>
              </a:rPr>
              <a:t>① </a:t>
            </a:r>
            <a:r>
              <a:rPr lang="zh-CN" sz="1275">
                <a:solidFill>
                  <a:srgbClr val="E0F2FE"/>
                </a:solidFill>
                <a:latin typeface="思源黑体"/>
                <a:ea typeface="思源黑体"/>
              </a:rPr>
              <a:t>持续扫描这些渠道</a:t>
            </a:r>
            <a:endParaRPr/>
          </a:p>
          <a:p>
            <a:pPr>
              <a:lnSpc>
                <a:spcPct val="160000"/>
              </a:lnSpc>
            </a:pPr>
            <a:r>
              <a:rPr lang="en-US" sz="1275">
                <a:solidFill>
                  <a:srgbClr val="E0F2FE"/>
                </a:solidFill>
                <a:latin typeface="思源黑体"/>
                <a:ea typeface="思源黑体"/>
              </a:rPr>
              <a:t>② </a:t>
            </a:r>
            <a:r>
              <a:rPr lang="zh-CN" sz="1275">
                <a:solidFill>
                  <a:srgbClr val="E0F2FE"/>
                </a:solidFill>
                <a:latin typeface="思源黑体"/>
                <a:ea typeface="思源黑体"/>
              </a:rPr>
              <a:t>从海量文本里识别</a:t>
            </a:r>
            <a:r>
              <a:rPr lang="en-US" sz="1275">
                <a:solidFill>
                  <a:srgbClr val="E0F2FE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E0F2FE"/>
                </a:solidFill>
                <a:latin typeface="思源黑体"/>
                <a:ea typeface="思源黑体"/>
              </a:rPr>
              <a:t>这串字符是凭据</a:t>
            </a:r>
            <a:r>
              <a:rPr lang="en-US" sz="1275">
                <a:solidFill>
                  <a:srgbClr val="E0F2FE"/>
                </a:solidFill>
                <a:latin typeface="思源黑体"/>
                <a:ea typeface="思源黑体"/>
              </a:rPr>
              <a:t>"</a:t>
            </a:r>
            <a:endParaRPr/>
          </a:p>
          <a:p>
            <a:pPr>
              <a:lnSpc>
                <a:spcPct val="160000"/>
              </a:lnSpc>
            </a:pPr>
            <a:r>
              <a:rPr lang="en-US" sz="1275">
                <a:solidFill>
                  <a:srgbClr val="E0F2FE"/>
                </a:solidFill>
                <a:latin typeface="思源黑体"/>
                <a:ea typeface="思源黑体"/>
              </a:rPr>
              <a:t>③ </a:t>
            </a:r>
            <a:r>
              <a:rPr lang="zh-CN" sz="1275">
                <a:solidFill>
                  <a:srgbClr val="E0F2FE"/>
                </a:solidFill>
                <a:latin typeface="思源黑体"/>
                <a:ea typeface="思源黑体"/>
              </a:rPr>
              <a:t>判断真假、是否仍可用、属于谁</a:t>
            </a:r>
            <a:endParaRPr/>
          </a:p>
          <a:p>
            <a:pPr>
              <a:lnSpc>
                <a:spcPct val="160000"/>
              </a:lnSpc>
            </a:pPr>
            <a:r>
              <a:rPr lang="en-US" sz="1275">
                <a:solidFill>
                  <a:srgbClr val="E0F2FE"/>
                </a:solidFill>
                <a:latin typeface="思源黑体"/>
                <a:ea typeface="思源黑体"/>
              </a:rPr>
              <a:t>④ </a:t>
            </a:r>
            <a:r>
              <a:rPr lang="zh-CN" sz="1275">
                <a:solidFill>
                  <a:srgbClr val="E0F2FE"/>
                </a:solidFill>
                <a:latin typeface="思源黑体"/>
                <a:ea typeface="思源黑体"/>
              </a:rPr>
              <a:t>告警并给出处置建议</a:t>
            </a:r>
            <a:endParaRPr/>
          </a:p>
        </p:txBody>
      </p:sp>
      <p:pic>
        <p:nvPicPr>
          <p:cNvPr id="103" name="图形 102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3448050"/>
            <a:ext cx="247650" cy="247650"/>
          </a:xfrm>
          <a:prstGeom prst="rect">
            <a:avLst/>
          </a:prstGeom>
          <a:ln/>
        </p:spPr>
      </p:pic>
      <p:sp>
        <p:nvSpPr>
          <p:cNvPr id="104" name="矩形: 圆角 103"/>
          <p:cNvSpPr/>
          <p:nvPr/>
        </p:nvSpPr>
        <p:spPr>
          <a:xfrm>
            <a:off x="8667750" y="2619375"/>
            <a:ext cx="2857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5" name="图形 104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39200" y="2933700"/>
            <a:ext cx="323850" cy="323850"/>
          </a:xfrm>
          <a:prstGeom prst="rect">
            <a:avLst/>
          </a:prstGeom>
          <a:ln/>
        </p:spPr>
      </p:pic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8839200" y="3352800"/>
            <a:ext cx="25146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思源黑体"/>
                <a:ea typeface="思源黑体"/>
              </a:rPr>
              <a:t>责任主体收到告警</a:t>
            </a:r>
            <a:endParaRPr/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8839200" y="3657600"/>
            <a:ext cx="25146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在坏人用掉钥匙之前吊销它、换锁、堵住根因。</a:t>
            </a:r>
            <a:endParaRPr/>
          </a:p>
        </p:txBody>
      </p:sp>
      <p:sp>
        <p:nvSpPr>
          <p:cNvPr id="108" name="矩形: 圆角 107"/>
          <p:cNvSpPr/>
          <p:nvPr/>
        </p:nvSpPr>
        <p:spPr>
          <a:xfrm>
            <a:off x="666750" y="4953000"/>
            <a:ext cx="10858500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9" name="图形 108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3450" y="5314950"/>
            <a:ext cx="323850" cy="323850"/>
          </a:xfrm>
          <a:prstGeom prst="rect">
            <a:avLst/>
          </a:prstGeom>
          <a:ln/>
        </p:spPr>
      </p:pic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1409700" y="5114925"/>
            <a:ext cx="9848850" cy="733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难点不在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写个爬虫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，而在：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① 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渠道又多又杂（要可扩展）；②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 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判断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这串字符是不是凭据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（要少误报）；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 ③ 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发现要快（要时效性）。——这正是赛题评分的三个核心维度。</a:t>
            </a:r>
            <a:endParaRPr/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666750" y="6210300"/>
            <a:ext cx="9715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赛题解读</a:t>
            </a: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小白版</a:t>
            </a:r>
            <a:endParaRPr/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11106150" y="62103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05 / 08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0F172A', padding: '0 70px', fontFamily: &quot;'思源黑体', 'Microsoft YaHei', sans-serif&quot; }}&gt;&#10;  &lt;Box style={{ height: 100, flexDirection: 'row', alignItems: 'center', gap: 16, paddingTop: 24 }}&gt;&#10;    &lt;Box style={{ width: 5, height: 40, background: '#F59E0B', borderRadius: 2 }} /&gt;&#10;    &lt;Text style={{ fontSize: 34, fontWeight: 'bold', color: '#FFFFFF' }}&gt;赛题的四个硬指标（评的就是这四件事）&lt;/Text&gt;&#10;  &lt;/Box&gt;&#10;  &lt;Box style={{ height: 540, gap: 18 }}&gt;&#10;    &lt;Box style={{ flexDirection: 'row', gap: 16, height: 240 }}&gt;&#10;      &lt;Box style={{ flex: 1, background: 'rgba(59,130,246,0.10)', borderRadius: 12, padding: 20, border: '1px solid rgba(59,130,246,0.4)' }}&gt;&#10;        &lt;Text style={{ fontSize: 15, color: '#93C5FD', letterSpacing: 2 }}&gt;渠道多&lt;/Text&gt;&#10;        &lt;Text style={{ fontSize: 66, fontWeight: 'bold', color: '#3B82F6', lineHeight: 1.1, marginTop: 6 }}&gt;多&lt;/Text&gt;&#10;        &lt;Text style={{ fontSize: 17, color: '#CBD5E1', lineHeight: 1.55, marginTop: 8 }}&gt;&#10;          支持的监控渠道越多越好——代码托管、Paste、镜像、包仓库、App 包……&#10;        &lt;/Text&gt;&#10;      &lt;/Box&gt;&#10;      &lt;Box style={{ flex: 1, background: 'rgba(6,182,212,0.10)', borderRadius: 12, padding: 20, border: '1px solid rgba(6,182,212,0.4)' }}&gt;&#10;        &lt;Text style={{ fontSize: 15, color: '#67E8F9', letterSpacing: 2 }}&gt;类型全&lt;/Text&gt;&#10;        &lt;Text style={{ fontSize: 66, fontWeight: 'bold', color: '#06B6D4', lineHeight: 1.1, marginTop: 6 }}&gt;全&lt;/Text&gt;&#10;        &lt;Text style={{ fontSize: 17, color: '#CBD5E1', lineHeight: 1.55, marginTop: 8 }}&gt;&#10;          支持的凭据类型越多越好——云 AK、API Token、数据库连接串、SSH 私钥……&#10;        &lt;/Text&gt;&#10;      &lt;/Box&gt;&#10;    &lt;/Box&gt;&#10;    &lt;Box style={{ flexDirection: 'row', gap: 16, height: 240 }}&gt;&#10;      &lt;Box style={{ flex: 1, background: 'rgba(245,158,11,0.12)', borderRadius: 12, padding: 20, border: '1px solid rgba(245,158,11,0.5)' }}&gt;&#10;        &lt;Text style={{ fontSize: 15, color: '#FCD34D', letterSpacing: 2 }}&gt;时效快&lt;/Text&gt;&#10;        &lt;Text style={{ fontSize: 66, fontWeight: 'bold', color: '#F59E0B', lineHeight: 1.1, marginTop: 6 }}&gt;快&lt;/Text&gt;&#10;        &lt;Text style={{ fontSize: 17, color: '#CBD5E1', lineHeight: 1.55, marginTop: 8 }}&gt;&#10;          反应时间越快越好——赛题点名&quot;发现凭据的时间 vs 公开泄露的时间&quot;，要压到分钟级。&#10;        &lt;/Text&gt;&#10;      &lt;/Box&gt;&#10;      &lt;Box style={{ flex: 1, background: 'rgba(148,163,184,0.10)', borderRadius: 12, padding: 20, border: '1px solid rgba(148,163,184,0.4)' }}&gt;&#10;        &lt;Text style={{ fontSize: 15, color: '#CBD5E1', letterSpacing: 2 }}&gt;误报少&lt;/Text&gt;&#10;        &lt;Text style={{ fontSize: 66, fontWeight: 'bold', color: '#E2E8F0', lineHeight: 1.1, marginTop: 6 }}&gt;准&lt;/Text&gt;&#10;        &lt;Text style={{ fontSize: 17, color: '#CBD5E1', lineHeight: 1.55, marginTop: 8 }}&gt;&#10;          喊&quot;狼来了&quot;喊多了没人信——报出来的要真的是凭据，还要说清&quot;为什么判定为真&quot;。&#10;        &lt;/Text&gt;&#10;      &lt;/Box&gt;&#10;    &lt;/Box&gt;&#10;    &lt;Box style={{ height: 40, flexDirection: 'row', alignItems: 'center' }}&gt;&#10;      &lt;Text style={{ fontSize: 17, color: '#94A3B8' }}&gt;除此之外还有两项加分能力：验证凭据是否仍可用（验活）、识别它属于谁（归属识别）。&lt;/Text&gt;&#10;    &lt;/Box&gt;&#10;  &lt;/Box&gt;&#10;  &lt;Box style={{ height: 40, flexDirection: 'row', justifyContent: 'space-between', alignItems: 'center' }}&gt;&#10;    &lt;Text style={{ fontSize: 13, color: '#64748B' }}&gt;赛题解读 · 小白版&lt;/Text&gt;&#10;    &lt;Text style={{ fontSize: 13, color: '#64748B' }}&gt;06 / 0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 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5" name="矩形: 圆角 114"/>
          <p:cNvSpPr/>
          <p:nvPr/>
        </p:nvSpPr>
        <p:spPr>
          <a:xfrm>
            <a:off x="666750" y="40005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866775" y="400050"/>
            <a:ext cx="58293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思源黑体"/>
                <a:ea typeface="思源黑体"/>
              </a:rPr>
              <a:t>赛题的四个硬指标（评的就是这四件事）</a:t>
            </a:r>
            <a:endParaRPr/>
          </a:p>
        </p:txBody>
      </p:sp>
      <p:sp>
        <p:nvSpPr>
          <p:cNvPr id="117" name="矩形: 圆角 116"/>
          <p:cNvSpPr/>
          <p:nvPr/>
        </p:nvSpPr>
        <p:spPr>
          <a:xfrm>
            <a:off x="666750" y="952500"/>
            <a:ext cx="5353050" cy="2286000"/>
          </a:xfrm>
          <a:prstGeom prst="roundRect">
            <a:avLst>
              <a:gd name="adj" fmla="val 500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857250" y="1143000"/>
            <a:ext cx="49720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93C5FD"/>
                </a:solidFill>
                <a:latin typeface="思源黑体"/>
                <a:ea typeface="思源黑体"/>
              </a:rPr>
              <a:t>渠道多</a:t>
            </a:r>
            <a:endParaRPr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857250" y="1371600"/>
            <a:ext cx="4972050" cy="838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zh-CN" sz="4950" b="1">
                <a:solidFill>
                  <a:srgbClr val="3B82F6"/>
                </a:solidFill>
                <a:latin typeface="思源黑体"/>
                <a:ea typeface="思源黑体"/>
              </a:rPr>
              <a:t>多</a:t>
            </a:r>
            <a:endParaRPr/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857250" y="2286000"/>
            <a:ext cx="497205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CBD5E1"/>
                </a:solidFill>
                <a:latin typeface="思源黑体"/>
                <a:ea typeface="思源黑体"/>
              </a:rPr>
              <a:t>支持的监控渠道越多越好——代码托管、</a:t>
            </a:r>
            <a:r>
              <a:rPr lang="en-US" sz="1275">
                <a:solidFill>
                  <a:srgbClr val="CBD5E1"/>
                </a:solidFill>
                <a:latin typeface="思源黑体"/>
                <a:ea typeface="思源黑体"/>
              </a:rPr>
              <a:t>Paste</a:t>
            </a:r>
            <a:r>
              <a:rPr lang="zh-CN" sz="1275">
                <a:solidFill>
                  <a:srgbClr val="CBD5E1"/>
                </a:solidFill>
                <a:latin typeface="思源黑体"/>
                <a:ea typeface="思源黑体"/>
              </a:rPr>
              <a:t>、镜像、包仓库、</a:t>
            </a:r>
            <a:r>
              <a:rPr lang="en-US" sz="1275">
                <a:solidFill>
                  <a:srgbClr val="CBD5E1"/>
                </a:solidFill>
                <a:latin typeface="思源黑体"/>
                <a:ea typeface="思源黑体"/>
              </a:rPr>
              <a:t>App </a:t>
            </a:r>
            <a:r>
              <a:rPr lang="zh-CN" sz="1275">
                <a:solidFill>
                  <a:srgbClr val="CBD5E1"/>
                </a:solidFill>
                <a:latin typeface="思源黑体"/>
                <a:ea typeface="思源黑体"/>
              </a:rPr>
              <a:t>包……</a:t>
            </a:r>
            <a:endParaRPr/>
          </a:p>
        </p:txBody>
      </p:sp>
      <p:sp>
        <p:nvSpPr>
          <p:cNvPr id="121" name="矩形: 圆角 120"/>
          <p:cNvSpPr/>
          <p:nvPr/>
        </p:nvSpPr>
        <p:spPr>
          <a:xfrm>
            <a:off x="6172200" y="952500"/>
            <a:ext cx="5353050" cy="2286000"/>
          </a:xfrm>
          <a:prstGeom prst="roundRect">
            <a:avLst>
              <a:gd name="adj" fmla="val 5000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6362700" y="1143000"/>
            <a:ext cx="49720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67E8F9"/>
                </a:solidFill>
                <a:latin typeface="思源黑体"/>
                <a:ea typeface="思源黑体"/>
              </a:rPr>
              <a:t>类型全</a:t>
            </a:r>
            <a:endParaRPr/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6362700" y="1371600"/>
            <a:ext cx="4972050" cy="838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zh-CN" sz="4950" b="1">
                <a:solidFill>
                  <a:srgbClr val="06B6D4"/>
                </a:solidFill>
                <a:latin typeface="思源黑体"/>
                <a:ea typeface="思源黑体"/>
              </a:rPr>
              <a:t>全</a:t>
            </a:r>
            <a:endParaRPr/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6362700" y="2286000"/>
            <a:ext cx="497205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CBD5E1"/>
                </a:solidFill>
                <a:latin typeface="思源黑体"/>
                <a:ea typeface="思源黑体"/>
              </a:rPr>
              <a:t>支持的凭据类型越多越好——云</a:t>
            </a:r>
            <a:r>
              <a:rPr lang="en-US" sz="1275">
                <a:solidFill>
                  <a:srgbClr val="CBD5E1"/>
                </a:solidFill>
                <a:latin typeface="思源黑体"/>
                <a:ea typeface="思源黑体"/>
              </a:rPr>
              <a:t> AK</a:t>
            </a:r>
            <a:r>
              <a:rPr lang="zh-CN" sz="1275">
                <a:solidFill>
                  <a:srgbClr val="CBD5E1"/>
                </a:solidFill>
                <a:latin typeface="思源黑体"/>
                <a:ea typeface="思源黑体"/>
              </a:rPr>
              <a:t>、</a:t>
            </a:r>
            <a:r>
              <a:rPr lang="en-US" sz="1275">
                <a:solidFill>
                  <a:srgbClr val="CBD5E1"/>
                </a:solidFill>
                <a:latin typeface="思源黑体"/>
                <a:ea typeface="思源黑体"/>
              </a:rPr>
              <a:t>API Token</a:t>
            </a:r>
            <a:r>
              <a:rPr lang="zh-CN" sz="1275">
                <a:solidFill>
                  <a:srgbClr val="CBD5E1"/>
                </a:solidFill>
                <a:latin typeface="思源黑体"/>
                <a:ea typeface="思源黑体"/>
              </a:rPr>
              <a:t>、数据库连接串、</a:t>
            </a:r>
            <a:r>
              <a:rPr lang="en-US" sz="1275">
                <a:solidFill>
                  <a:srgbClr val="CBD5E1"/>
                </a:solidFill>
                <a:latin typeface="思源黑体"/>
                <a:ea typeface="思源黑体"/>
              </a:rPr>
              <a:t>SSH </a:t>
            </a:r>
            <a:r>
              <a:rPr lang="zh-CN" sz="1275">
                <a:solidFill>
                  <a:srgbClr val="CBD5E1"/>
                </a:solidFill>
                <a:latin typeface="思源黑体"/>
                <a:ea typeface="思源黑体"/>
              </a:rPr>
              <a:t>私钥……</a:t>
            </a:r>
            <a:endParaRPr/>
          </a:p>
        </p:txBody>
      </p:sp>
      <p:sp>
        <p:nvSpPr>
          <p:cNvPr id="125" name="矩形: 圆角 124"/>
          <p:cNvSpPr/>
          <p:nvPr/>
        </p:nvSpPr>
        <p:spPr>
          <a:xfrm>
            <a:off x="666750" y="3409950"/>
            <a:ext cx="5353050" cy="2286000"/>
          </a:xfrm>
          <a:prstGeom prst="roundRect">
            <a:avLst>
              <a:gd name="adj" fmla="val 500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857250" y="3600450"/>
            <a:ext cx="49720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FCD34D"/>
                </a:solidFill>
                <a:latin typeface="思源黑体"/>
                <a:ea typeface="思源黑体"/>
              </a:rPr>
              <a:t>时效快</a:t>
            </a:r>
            <a:endParaRPr/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857250" y="3829050"/>
            <a:ext cx="4972050" cy="838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zh-CN" sz="4950" b="1">
                <a:solidFill>
                  <a:srgbClr val="F59E0B"/>
                </a:solidFill>
                <a:latin typeface="思源黑体"/>
                <a:ea typeface="思源黑体"/>
              </a:rPr>
              <a:t>快</a:t>
            </a:r>
            <a:endParaRPr/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857250" y="4743450"/>
            <a:ext cx="497205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CBD5E1"/>
                </a:solidFill>
                <a:latin typeface="思源黑体"/>
                <a:ea typeface="思源黑体"/>
              </a:rPr>
              <a:t>反应时间越快越好——赛题点名</a:t>
            </a:r>
            <a:r>
              <a:rPr lang="en-US" sz="1275">
                <a:solidFill>
                  <a:srgbClr val="CBD5E1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CBD5E1"/>
                </a:solidFill>
                <a:latin typeface="思源黑体"/>
                <a:ea typeface="思源黑体"/>
              </a:rPr>
              <a:t>发现凭据的时间</a:t>
            </a:r>
            <a:r>
              <a:rPr lang="en-US" sz="1275">
                <a:solidFill>
                  <a:srgbClr val="CBD5E1"/>
                </a:solidFill>
                <a:latin typeface="思源黑体"/>
                <a:ea typeface="思源黑体"/>
              </a:rPr>
              <a:t> vs </a:t>
            </a:r>
            <a:r>
              <a:rPr lang="zh-CN" sz="1275">
                <a:solidFill>
                  <a:srgbClr val="CBD5E1"/>
                </a:solidFill>
                <a:latin typeface="思源黑体"/>
                <a:ea typeface="思源黑体"/>
              </a:rPr>
              <a:t>公开泄露的时间</a:t>
            </a:r>
            <a:r>
              <a:rPr lang="en-US" sz="1275">
                <a:solidFill>
                  <a:srgbClr val="CBD5E1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CBD5E1"/>
                </a:solidFill>
                <a:latin typeface="思源黑体"/>
                <a:ea typeface="思源黑体"/>
              </a:rPr>
              <a:t>，要压到分钟级。</a:t>
            </a:r>
            <a:endParaRPr/>
          </a:p>
        </p:txBody>
      </p:sp>
      <p:sp>
        <p:nvSpPr>
          <p:cNvPr id="129" name="矩形: 圆角 128"/>
          <p:cNvSpPr/>
          <p:nvPr/>
        </p:nvSpPr>
        <p:spPr>
          <a:xfrm>
            <a:off x="6172200" y="3409950"/>
            <a:ext cx="5353050" cy="2286000"/>
          </a:xfrm>
          <a:prstGeom prst="roundRect">
            <a:avLst>
              <a:gd name="adj" fmla="val 5000"/>
            </a:avLst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6362700" y="3600450"/>
            <a:ext cx="49720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CBD5E1"/>
                </a:solidFill>
                <a:latin typeface="思源黑体"/>
                <a:ea typeface="思源黑体"/>
              </a:rPr>
              <a:t>误报少</a:t>
            </a:r>
            <a:endParaRPr/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6362700" y="3829050"/>
            <a:ext cx="4972050" cy="838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zh-CN" sz="4950" b="1">
                <a:solidFill>
                  <a:srgbClr val="E2E8F0"/>
                </a:solidFill>
                <a:latin typeface="思源黑体"/>
                <a:ea typeface="思源黑体"/>
              </a:rPr>
              <a:t>准</a:t>
            </a:r>
            <a:endParaRPr/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6362700" y="4743450"/>
            <a:ext cx="497205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CBD5E1"/>
                </a:solidFill>
                <a:latin typeface="思源黑体"/>
                <a:ea typeface="思源黑体"/>
              </a:rPr>
              <a:t>喊</a:t>
            </a:r>
            <a:r>
              <a:rPr lang="en-US" sz="1275">
                <a:solidFill>
                  <a:srgbClr val="CBD5E1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CBD5E1"/>
                </a:solidFill>
                <a:latin typeface="思源黑体"/>
                <a:ea typeface="思源黑体"/>
              </a:rPr>
              <a:t>狼来了</a:t>
            </a:r>
            <a:r>
              <a:rPr lang="en-US" sz="1275">
                <a:solidFill>
                  <a:srgbClr val="CBD5E1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CBD5E1"/>
                </a:solidFill>
                <a:latin typeface="思源黑体"/>
                <a:ea typeface="思源黑体"/>
              </a:rPr>
              <a:t>喊多了没人信——报出来的要真的是凭据，还要说清</a:t>
            </a:r>
            <a:r>
              <a:rPr lang="en-US" sz="1275">
                <a:solidFill>
                  <a:srgbClr val="CBD5E1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CBD5E1"/>
                </a:solidFill>
                <a:latin typeface="思源黑体"/>
                <a:ea typeface="思源黑体"/>
              </a:rPr>
              <a:t>为什么判定为真</a:t>
            </a:r>
            <a:r>
              <a:rPr lang="en-US" sz="1275">
                <a:solidFill>
                  <a:srgbClr val="CBD5E1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CBD5E1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666750" y="5962650"/>
            <a:ext cx="6477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94A3B8"/>
                </a:solidFill>
                <a:latin typeface="思源黑体"/>
                <a:ea typeface="思源黑体"/>
              </a:rPr>
              <a:t>除此之外还有两项加分能力：验证凭据是否仍可用（验活）、识别它属于谁（归属识别）。</a:t>
            </a:r>
            <a:endParaRPr/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666750" y="6210300"/>
            <a:ext cx="9715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思源黑体"/>
                <a:ea typeface="思源黑体"/>
              </a:rPr>
              <a:t>赛题解读</a:t>
            </a:r>
            <a:r>
              <a:rPr lang="en-US" sz="975">
                <a:solidFill>
                  <a:srgbClr val="64748B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64748B"/>
                </a:solidFill>
                <a:latin typeface="思源黑体"/>
                <a:ea typeface="思源黑体"/>
              </a:rPr>
              <a:t>小白版</a:t>
            </a:r>
            <a:endParaRPr/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11106150" y="62103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思源黑体"/>
                <a:ea typeface="思源黑体"/>
              </a:rPr>
              <a:t>06 / 08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padding: '0 70px', fontFamily: &quot;'思源黑体', 'Microsoft YaHei', sans-serif&quot; }}&gt;&#10;  &lt;Box style={{ height: 100, flexDirection: 'row', alignItems: 'center', gap: 16, paddingTop: 24 }}&gt;&#10;    &lt;Box style={{ width: 5, height: 40, background: '#F59E0B', borderRadius: 2 }} /&gt;&#10;    &lt;Text style={{ fontSize: 34, fontWeight: 'bold', color: '#0F172A' }}&gt;红线：这道题只允许&quot;防守&quot;，不允许&quot;进攻&quot;&lt;/Text&gt;&#10;  &lt;/Box&gt;&#10;  &lt;Box style={{ height: 540, gap: 20 }}&gt;&#10;    &lt;Box style={{ height: 130, background: '#FFF7ED', borderRadius: 12, padding: '18px 28px', justifyContent: 'center', border: '1px solid #FED7AA' }}&gt;&#10;      &lt;Text style={{ fontSize: 21, color: '#334155', lineHeight: 1.6 }}&gt;&#10;        官方规则：&lt;Text style={{ fontWeight: 'bold', color: '#F59E0B' }}&gt;只接受防御性作品，不接受任何攻击性质的内容。&lt;/Text&gt;&#10;        换句话说——你是&quot;抄表员&quot;，不是&quot;小偷&quot;。发现别人家钥匙掉在路上，你的职责是还回去，不是开门进去。&#10;      &lt;/Text&gt;&#10;    &lt;/Box&gt;&#10;    &lt;Box style={{ flexDirection: 'row', gap: 18, height: 230 }}&gt;&#10;      &lt;Box style={{ flex: 1, background: '#F8FAFC', borderRadius: 12, padding: 20, border: '1px solid #E2E8F0' }}&gt;&#10;        &lt;Box style={{ flexDirection: 'row', alignItems: 'center', gap: 10 }}&gt;&#10;          &lt;FAIcon name='eye' style={{ fill: '#3B82F6', width: 28, height: 28 }} /&gt;&#10;          &lt;Text style={{ fontSize: 21, fontWeight: 'bold', color: '#0F172A' }}&gt;只看公开的&lt;/Text&gt;&#10;        &lt;/Box&gt;&#10;        &lt;Text style={{ fontSize: 17, color: '#475569', lineHeight: 1.6, marginTop: 10 }}&gt;&#10;          只读取无需登录就能访问的公开内容；不登录、不绕过鉴权、不越权访问任何私有数据。&#10;        &lt;/Text&gt;&#10;      &lt;/Box&gt;&#10;      &lt;Box style={{ flex: 1, background: '#F8FAFC', borderRadius: 12, padding: 20, border: '1px solid #E2E8F0' }}&gt;&#10;        &lt;Box style={{ flexDirection: 'row', alignItems: 'center', gap: 10 }}&gt;&#10;          &lt;FAIcon name='ban' style={{ fill: '#3B82F6', width: 28, height: 28 }} /&gt;&#10;          &lt;Text style={{ fontSize: 21, fontWeight: 'bold', color: '#0F172A' }}&gt;不用别人的钥匙&lt;/Text&gt;&#10;        &lt;/Box&gt;&#10;        &lt;Text style={{ fontSize: 17, color: '#475569', lineHeight: 1.6, marginTop: 10 }}&gt;&#10;          拿到泄露凭据只能做&quot;只读验证&quot;（确认它是否有效），绝不利用它操作资源、绝不暴力尝试。&#10;        &lt;/Text&gt;&#10;      &lt;/Box&gt;&#10;      &lt;Box style={{ flex: 1, background: '#F8FAFC', borderRadius: 12, padding: 20, border: '1px solid #E2E8F0' }}&gt;&#10;        &lt;Box style={{ flexDirection: 'row', alignItems: 'center', gap: 10 }}&gt;&#10;          &lt;FAIcon name='envelope' style={{ fill: '#3B82F6', width: 28, height: 28 }} /&gt;&#10;          &lt;Text style={{ fontSize: 21, fontWeight: 'bold', color: '#0F172A' }}&gt;负责任披露&lt;/Text&gt;&#10;        &lt;/Box&gt;&#10;        &lt;Text style={{ fontSize: 17, color: '#475569', lineHeight: 1.6, marginTop: 10 }}&gt;&#10;          发现泄露要通知责任主体去修，报告里只放掩码和指纹，明文不落盘、不传播。&#10;        &lt;/Text&gt;&#10;      &lt;/Box&gt;&#10;    &lt;/Box&gt;&#10;    &lt;Box style={{ height: 120, flexDirection: 'row', alignItems: 'center', gap: 18, background: '#0F172A', borderRadius: 12, padding: '0 28px' }}&gt;&#10;      &lt;FAIcon name='balance-scale' style={{ fill: '#F59E0B', width: 36, height: 36 }} /&gt;&#10;      &lt;Text style={{ fontSize: 19, color: '#E2E8F0', lineHeight: 1.6 }}&gt;&#10;        这不只是道德要求，也是&lt;Text style={{ fontWeight: 'bold', color: '#F59E0B' }}&gt;法律要求&lt;/Text&gt;：&#10;        存储或使用他人凭据可能触犯《刑法》第二百八十五条（非法获取计算机信息系统数据）。&#10;        答辩时评委也会查——你的作品自己必须是&quot;干净&quot;的。&#10;      &lt;/Text&gt;&#10;    &lt;/Box&gt;&#10;  &lt;/Box&gt;&#10;  &lt;Box style={{ height: 40, flexDirection: 'row', justifyContent: 'space-between', alignItems: 'center' }}&gt;&#10;    &lt;Text style={{ fontSize: 13, color: '#94A3B8' }}&gt;赛题解读 · 小白版&lt;/Text&gt;&#10;    &lt;Text style={{ fontSize: 13, color: '#94A3B8' }}&gt;07 / 0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 1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8" name="矩形: 圆角 137"/>
          <p:cNvSpPr/>
          <p:nvPr/>
        </p:nvSpPr>
        <p:spPr>
          <a:xfrm>
            <a:off x="666750" y="40005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866775" y="400050"/>
            <a:ext cx="61817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红线：这道题只允许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防守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，不允许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进攻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140" name="矩形: 圆角 139"/>
          <p:cNvSpPr/>
          <p:nvPr/>
        </p:nvSpPr>
        <p:spPr>
          <a:xfrm>
            <a:off x="666750" y="952500"/>
            <a:ext cx="10858500" cy="1238250"/>
          </a:xfrm>
          <a:prstGeom prst="roundRect">
            <a:avLst>
              <a:gd name="adj" fmla="val 923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933450" y="1190625"/>
            <a:ext cx="103251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334155"/>
                </a:solidFill>
                <a:latin typeface="思源黑体"/>
                <a:ea typeface="思源黑体"/>
              </a:rPr>
              <a:t>官方规则：只接受防御性作品，不接受任何攻击性质的内容。换句话说——你是</a:t>
            </a:r>
            <a:r>
              <a:rPr lang="en-US" sz="15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75">
                <a:solidFill>
                  <a:srgbClr val="334155"/>
                </a:solidFill>
                <a:latin typeface="思源黑体"/>
                <a:ea typeface="思源黑体"/>
              </a:rPr>
              <a:t>抄表员</a:t>
            </a:r>
            <a:r>
              <a:rPr lang="en-US" sz="15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75">
                <a:solidFill>
                  <a:srgbClr val="334155"/>
                </a:solidFill>
                <a:latin typeface="思源黑体"/>
                <a:ea typeface="思源黑体"/>
              </a:rPr>
              <a:t>，不是</a:t>
            </a:r>
            <a:r>
              <a:rPr lang="en-US" sz="15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75">
                <a:solidFill>
                  <a:srgbClr val="334155"/>
                </a:solidFill>
                <a:latin typeface="思源黑体"/>
                <a:ea typeface="思源黑体"/>
              </a:rPr>
              <a:t>小偷</a:t>
            </a:r>
            <a:r>
              <a:rPr lang="en-US" sz="15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75">
                <a:solidFill>
                  <a:srgbClr val="334155"/>
                </a:solidFill>
                <a:latin typeface="思源黑体"/>
                <a:ea typeface="思源黑体"/>
              </a:rPr>
              <a:t>。发现别人家钥匙掉在路上，你的职责是还回去，不是开门进去。</a:t>
            </a:r>
            <a:endParaRPr/>
          </a:p>
        </p:txBody>
      </p:sp>
      <p:sp>
        <p:nvSpPr>
          <p:cNvPr id="142" name="矩形: 圆角 141"/>
          <p:cNvSpPr/>
          <p:nvPr/>
        </p:nvSpPr>
        <p:spPr>
          <a:xfrm>
            <a:off x="666750" y="2381250"/>
            <a:ext cx="350520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3" name="图形 14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250" y="2571750"/>
            <a:ext cx="266700" cy="266700"/>
          </a:xfrm>
          <a:prstGeom prst="rect">
            <a:avLst/>
          </a:prstGeom>
          <a:ln/>
        </p:spPr>
      </p:pic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1219200" y="2581275"/>
            <a:ext cx="10001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思源黑体"/>
                <a:ea typeface="思源黑体"/>
              </a:rPr>
              <a:t>只看公开的</a:t>
            </a:r>
            <a:endParaRPr/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857250" y="2933700"/>
            <a:ext cx="31242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只读取无需登录就能访问的公开内容；不登录、不绕过鉴权、不越权访问任何私有数据。</a:t>
            </a:r>
            <a:endParaRPr/>
          </a:p>
        </p:txBody>
      </p:sp>
      <p:sp>
        <p:nvSpPr>
          <p:cNvPr id="146" name="矩形: 圆角 145"/>
          <p:cNvSpPr/>
          <p:nvPr/>
        </p:nvSpPr>
        <p:spPr>
          <a:xfrm>
            <a:off x="4343400" y="2381250"/>
            <a:ext cx="350520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7" name="图形 14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33900" y="2571750"/>
            <a:ext cx="266700" cy="266700"/>
          </a:xfrm>
          <a:prstGeom prst="rect">
            <a:avLst/>
          </a:prstGeom>
          <a:ln/>
        </p:spPr>
      </p:pic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4895850" y="2581275"/>
            <a:ext cx="14001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思源黑体"/>
                <a:ea typeface="思源黑体"/>
              </a:rPr>
              <a:t>不用别人的钥匙</a:t>
            </a:r>
            <a:endParaRPr/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4533900" y="2933700"/>
            <a:ext cx="31242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拿到泄露凭据只能做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只读验证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（确认它是否有效），绝不利用它操作资源、绝不暴力尝试。</a:t>
            </a:r>
            <a:endParaRPr/>
          </a:p>
        </p:txBody>
      </p:sp>
      <p:sp>
        <p:nvSpPr>
          <p:cNvPr id="150" name="矩形: 圆角 149"/>
          <p:cNvSpPr/>
          <p:nvPr/>
        </p:nvSpPr>
        <p:spPr>
          <a:xfrm>
            <a:off x="8020050" y="2381250"/>
            <a:ext cx="350520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1" name="图形 150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0550" y="2571750"/>
            <a:ext cx="266700" cy="266700"/>
          </a:xfrm>
          <a:prstGeom prst="rect">
            <a:avLst/>
          </a:prstGeom>
          <a:ln/>
        </p:spPr>
      </p:pic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8572500" y="2581275"/>
            <a:ext cx="10001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思源黑体"/>
                <a:ea typeface="思源黑体"/>
              </a:rPr>
              <a:t>负责任披露</a:t>
            </a:r>
            <a:endParaRPr/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8210550" y="2933700"/>
            <a:ext cx="31242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发现泄露要通知责任主体去修，报告里只放掩码和指纹，明文不落盘、不传播。</a:t>
            </a:r>
            <a:endParaRPr/>
          </a:p>
        </p:txBody>
      </p:sp>
      <p:sp>
        <p:nvSpPr>
          <p:cNvPr id="154" name="矩形: 圆角 153"/>
          <p:cNvSpPr/>
          <p:nvPr/>
        </p:nvSpPr>
        <p:spPr>
          <a:xfrm>
            <a:off x="666750" y="4762500"/>
            <a:ext cx="10858500" cy="11430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5" name="图形 154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3450" y="5162550"/>
            <a:ext cx="342900" cy="342900"/>
          </a:xfrm>
          <a:prstGeom prst="rect">
            <a:avLst/>
          </a:prstGeom>
          <a:ln/>
        </p:spPr>
      </p:pic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1428750" y="4991100"/>
            <a:ext cx="98298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E2E8F0"/>
                </a:solidFill>
                <a:latin typeface="思源黑体"/>
                <a:ea typeface="思源黑体"/>
              </a:rPr>
              <a:t>这不只是道德要求，也是法律要求：</a:t>
            </a:r>
            <a:r>
              <a:rPr lang="en-US" sz="1425">
                <a:solidFill>
                  <a:srgbClr val="E2E8F0"/>
                </a:solidFill>
                <a:latin typeface="思源黑体"/>
                <a:ea typeface="思源黑体"/>
              </a:rPr>
              <a:t> </a:t>
            </a:r>
            <a:r>
              <a:rPr lang="zh-CN" sz="1425">
                <a:solidFill>
                  <a:srgbClr val="E2E8F0"/>
                </a:solidFill>
                <a:latin typeface="思源黑体"/>
                <a:ea typeface="思源黑体"/>
              </a:rPr>
              <a:t>存储或使用他人凭据可能触犯《刑法》第二百八十五条（非法获取计算机信息系统数据）。</a:t>
            </a:r>
            <a:r>
              <a:rPr lang="en-US" sz="1425">
                <a:solidFill>
                  <a:srgbClr val="E2E8F0"/>
                </a:solidFill>
                <a:latin typeface="思源黑体"/>
                <a:ea typeface="思源黑体"/>
              </a:rPr>
              <a:t> </a:t>
            </a:r>
            <a:r>
              <a:rPr lang="zh-CN" sz="1425">
                <a:solidFill>
                  <a:srgbClr val="E2E8F0"/>
                </a:solidFill>
                <a:latin typeface="思源黑体"/>
                <a:ea typeface="思源黑体"/>
              </a:rPr>
              <a:t>答辩时评委也会查——你的作品自己必须是</a:t>
            </a:r>
            <a:r>
              <a:rPr lang="en-US" sz="1425">
                <a:solidFill>
                  <a:srgbClr val="E2E8F0"/>
                </a:solidFill>
                <a:latin typeface="思源黑体"/>
                <a:ea typeface="思源黑体"/>
              </a:rPr>
              <a:t>"</a:t>
            </a:r>
            <a:r>
              <a:rPr lang="zh-CN" sz="1425">
                <a:solidFill>
                  <a:srgbClr val="E2E8F0"/>
                </a:solidFill>
                <a:latin typeface="思源黑体"/>
                <a:ea typeface="思源黑体"/>
              </a:rPr>
              <a:t>干净</a:t>
            </a:r>
            <a:r>
              <a:rPr lang="en-US" sz="1425">
                <a:solidFill>
                  <a:srgbClr val="E2E8F0"/>
                </a:solidFill>
                <a:latin typeface="思源黑体"/>
                <a:ea typeface="思源黑体"/>
              </a:rPr>
              <a:t>"</a:t>
            </a:r>
            <a:r>
              <a:rPr lang="zh-CN" sz="1425">
                <a:solidFill>
                  <a:srgbClr val="E2E8F0"/>
                </a:solidFill>
                <a:latin typeface="思源黑体"/>
                <a:ea typeface="思源黑体"/>
              </a:rPr>
              <a:t>的。</a:t>
            </a:r>
            <a:endParaRPr/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666750" y="6210300"/>
            <a:ext cx="9715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赛题解读</a:t>
            </a: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小白版</a:t>
            </a:r>
            <a:endParaRPr/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11106150" y="62103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07 / 08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padding: '0 70px', fontFamily: &quot;'思源黑体', 'Microsoft YaHei', sans-serif&quot; }}&gt;&#10;  &lt;Box style={{ height: 100, flexDirection: 'row', alignItems: 'center', gap: 16, paddingTop: 24 }}&gt;&#10;    &lt;Box style={{ width: 5, height: 40, background: '#3B82F6', borderRadius: 2 }} /&gt;&#10;    &lt;Text style={{ fontSize: 34, fontWeight: 'bold', color: '#0F172A' }}&gt;评分怎么评、交什么：一张图收尾&lt;/Text&gt;&#10;  &lt;/Box&gt;&#10;  &lt;Box style={{ height: 540, gap: 20 }}&gt;&#10;    &lt;Box style={{ flexDirection: 'row', gap: 24, height: 250 }}&gt;&#10;      &lt;Box style={{ flex: 1.2, background: '#F8FAFC', borderRadius: 12, padding: 22, border: '1px solid #E2E8F0' }}&gt;&#10;        &lt;Text style={{ fontSize: 22, fontWeight: 'bold', color: '#0F172A' }}&gt;评审维度（官方公开）&lt;/Text&gt;&#10;        &lt;Box style={{ marginTop: 14, gap: 12 }}&gt;&#10;          &lt;Box style={{ flexDirection: 'row', alignItems: 'center', gap: 12 }}&gt;&#10;            &lt;Box style={{ width: 10, height: 10, borderRadius: 5, background: '#3B82F6' }} /&gt;&#10;            &lt;Text style={{ fontSize: 19, color: '#334155' }}&gt;原创性与创新性 —— 是否独立设计、有独到思路&lt;/Text&gt;&#10;          &lt;/Box&gt;&#10;          &lt;Box style={{ flexDirection: 'row', alignItems: 'center', gap: 12 }}&gt;&#10;            &lt;Box style={{ width: 10, height: 10, borderRadius: 5, background: '#3B82F6' }} /&gt;&#10;            &lt;Text style={{ fontSize: 19, color: '#334155' }}&gt;完成程度 —— 要求的功能是否真的做出来了&lt;/Text&gt;&#10;          &lt;/Box&gt;&#10;          &lt;Box style={{ flexDirection: 'row', alignItems: 'center', gap: 12 }}&gt;&#10;            &lt;Box style={{ width: 10, height: 10, borderRadius: 5, background: '#3B82F6' }} /&gt;&#10;            &lt;Text style={{ fontSize: 19, color: '#334155' }}&gt;性能 / 时效性 —— 扫得快、发现得早&lt;/Text&gt;&#10;          &lt;/Box&gt;&#10;          &lt;Box style={{ flexDirection: 'row', alignItems: 'center', gap: 12 }}&gt;&#10;            &lt;Box style={{ width: 10, height: 10, borderRadius: 5, background: '#3B82F6' }} /&gt;&#10;            &lt;Text style={{ fontSize: 19, color: '#334155' }}&gt;应用价值 + 文档规范性 —— 能落地、材料齐全&lt;/Text&gt;&#10;          &lt;/Box&gt;&#10;        &lt;/Box&gt;&#10;      &lt;/Box&gt;&#10;      &lt;Box style={{ flex: 1, background: '#EFF6FF', borderRadius: 12, padding: 22, border: '1px solid #DBEAFE' }}&gt;&#10;        &lt;Text style={{ fontSize: 22, fontWeight: 'bold', color: '#0F172A' }}&gt;要交什么&lt;/Text&gt;&#10;        &lt;Box style={{ marginTop: 14, gap: 12 }}&gt;&#10;          &lt;Box style={{ flexDirection: 'row', alignItems: 'center', gap: 12 }}&gt;&#10;            &lt;FAIcon name='file-pdf' style={{ fill: '#3B82F6', width: 24, height: 24 }} /&gt;&#10;            &lt;Text style={{ fontSize: 19, color: '#334155' }}&gt;作品文档（PDF，≤10M）：简介+设计+测试报告+声明&lt;/Text&gt;&#10;          &lt;/Box&gt;&#10;          &lt;Box style={{ flexDirection: 'row', alignItems: 'center', gap: 12 }}&gt;&#10;            &lt;FAIcon name='cogs' style={{ fill: '#3B82F6', width: 24, height: 24 }} /&gt;&#10;            &lt;Text style={{ fontSize: 19, color: '#334155' }}&gt;可执行程序：完整能跑的检测平台&lt;/Text&gt;&#10;          &lt;/Box&gt;&#10;          &lt;Box style={{ flexDirection: 'row', alignItems: 'center', gap: 12 }}&gt;&#10;            &lt;FAIcon name='signature' style={{ fill: '#3B82F6', width: 24, height: 24 }} /&gt;&#10;            &lt;Text style={{ fontSize: 19, color: '#334155' }}&gt;参赛声明（签名），材料不得含学校/导师信息&lt;/Text&gt;&#10;          &lt;/Box&gt;&#10;          &lt;Box style={{ flexDirection: 'row', alignItems: 'center', gap: 12 }}&gt;&#10;            &lt;FAIcon name='tag' style={{ fill: '#3B82F6', width: 24, height: 24 }} /&gt;&#10;            &lt;Text style={{ fontSize: 19, color: '#334155' }}&gt;命名：&quot;队长姓名+作品名称+资料名称&quot;&lt;/Text&gt;&#10;          &lt;/Box&gt;&#10;        &lt;/Box&gt;&#10;      &lt;/Box&gt;&#10;    &lt;/Box&gt;&#10;    &lt;Box style={{ height: 150, background: 'linear-gradient(135deg, #3B82F6 0%, #06B6D4 100%)', borderRadius: 12, padding: '22px 30px', justifyContent: 'center', boxShadow: '0 4px 20px rgba(59,130,246,0.25)' }}&gt;&#10;      &lt;Text style={{ fontSize: 26, fontWeight: 'bold', color: '#FFFFFF', lineHeight: 1.5 }}&gt;&#10;        一句话总结这道赛题：{'\n'}&#10;        &lt;Text style={{ fontSize: 22, color: '#E0F2FE' }}&gt;造一台&quot;雷达&quot;，在坏人用掉那些公开泄露的云钥匙之前，先把它们找出来、报给主人。&lt;/Text&gt;&#10;      &lt;/Text&gt;&#10;    &lt;/Box&gt;&#10;  &lt;/Box&gt;&#10;  &lt;Box style={{ height: 40, flexDirection: 'row', justifyContent: 'space-between', alignItems: 'center' }}&gt;&#10;    &lt;Text style={{ fontSize: 13, color: '#94A3B8' }}&gt;赛题解读 · 小白版 · 完&lt;/Text&gt;&#10;    &lt;Text style={{ fontSize: 13, color: '#94A3B8' }}&gt;08 / 0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矩形 1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1" name="矩形: 圆角 160"/>
          <p:cNvSpPr/>
          <p:nvPr/>
        </p:nvSpPr>
        <p:spPr>
          <a:xfrm>
            <a:off x="666750" y="40005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866775" y="400050"/>
            <a:ext cx="48577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评分怎么评、交什么：一张图收尾</a:t>
            </a:r>
            <a:endParaRPr/>
          </a:p>
        </p:txBody>
      </p:sp>
      <p:sp>
        <p:nvSpPr>
          <p:cNvPr id="163" name="矩形: 圆角 162"/>
          <p:cNvSpPr/>
          <p:nvPr/>
        </p:nvSpPr>
        <p:spPr>
          <a:xfrm>
            <a:off x="666750" y="952500"/>
            <a:ext cx="5800725" cy="238125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876300" y="1162050"/>
            <a:ext cx="53816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评审维度（官方公开）</a:t>
            </a:r>
            <a:endParaRPr/>
          </a:p>
        </p:txBody>
      </p:sp>
      <p:sp>
        <p:nvSpPr>
          <p:cNvPr id="165" name="矩形: 圆角 164"/>
          <p:cNvSpPr/>
          <p:nvPr/>
        </p:nvSpPr>
        <p:spPr>
          <a:xfrm>
            <a:off x="876300" y="1619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1085850" y="1552575"/>
            <a:ext cx="3943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原创性与创新性</a:t>
            </a:r>
            <a:r>
              <a:rPr lang="en-US" sz="1425">
                <a:solidFill>
                  <a:srgbClr val="334155"/>
                </a:solidFill>
                <a:latin typeface="思源黑体"/>
                <a:ea typeface="思源黑体"/>
              </a:rPr>
              <a:t> —— </a:t>
            </a: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是否独立设计、有独到思路</a:t>
            </a:r>
            <a:endParaRPr/>
          </a:p>
        </p:txBody>
      </p:sp>
      <p:sp>
        <p:nvSpPr>
          <p:cNvPr id="167" name="矩形: 圆角 166"/>
          <p:cNvSpPr/>
          <p:nvPr/>
        </p:nvSpPr>
        <p:spPr>
          <a:xfrm>
            <a:off x="876300" y="19526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1085850" y="1885950"/>
            <a:ext cx="35814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完成程度</a:t>
            </a:r>
            <a:r>
              <a:rPr lang="en-US" sz="1425">
                <a:solidFill>
                  <a:srgbClr val="334155"/>
                </a:solidFill>
                <a:latin typeface="思源黑体"/>
                <a:ea typeface="思源黑体"/>
              </a:rPr>
              <a:t> —— </a:t>
            </a: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要求的功能是否真的做出来了</a:t>
            </a:r>
            <a:endParaRPr/>
          </a:p>
        </p:txBody>
      </p:sp>
      <p:sp>
        <p:nvSpPr>
          <p:cNvPr id="169" name="矩形: 圆角 168"/>
          <p:cNvSpPr/>
          <p:nvPr/>
        </p:nvSpPr>
        <p:spPr>
          <a:xfrm>
            <a:off x="876300" y="2286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1085850" y="2219325"/>
            <a:ext cx="30384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性能</a:t>
            </a:r>
            <a:r>
              <a:rPr lang="en-US" sz="1425">
                <a:solidFill>
                  <a:srgbClr val="334155"/>
                </a:solidFill>
                <a:latin typeface="思源黑体"/>
                <a:ea typeface="思源黑体"/>
              </a:rPr>
              <a:t> / </a:t>
            </a: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时效性</a:t>
            </a:r>
            <a:r>
              <a:rPr lang="en-US" sz="1425">
                <a:solidFill>
                  <a:srgbClr val="334155"/>
                </a:solidFill>
                <a:latin typeface="思源黑体"/>
                <a:ea typeface="思源黑体"/>
              </a:rPr>
              <a:t> —— </a:t>
            </a: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扫得快、发现得早</a:t>
            </a:r>
            <a:endParaRPr/>
          </a:p>
        </p:txBody>
      </p:sp>
      <p:sp>
        <p:nvSpPr>
          <p:cNvPr id="171" name="矩形: 圆角 170"/>
          <p:cNvSpPr/>
          <p:nvPr/>
        </p:nvSpPr>
        <p:spPr>
          <a:xfrm>
            <a:off x="876300" y="26193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1085850" y="2552700"/>
            <a:ext cx="38195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应用价值</a:t>
            </a:r>
            <a:r>
              <a:rPr lang="en-US" sz="1425">
                <a:solidFill>
                  <a:srgbClr val="334155"/>
                </a:solidFill>
                <a:latin typeface="思源黑体"/>
                <a:ea typeface="思源黑体"/>
              </a:rPr>
              <a:t> + </a:t>
            </a: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文档规范性</a:t>
            </a:r>
            <a:r>
              <a:rPr lang="en-US" sz="1425">
                <a:solidFill>
                  <a:srgbClr val="334155"/>
                </a:solidFill>
                <a:latin typeface="思源黑体"/>
                <a:ea typeface="思源黑体"/>
              </a:rPr>
              <a:t> —— </a:t>
            </a: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能落地、材料齐全</a:t>
            </a:r>
            <a:endParaRPr/>
          </a:p>
        </p:txBody>
      </p:sp>
      <p:sp>
        <p:nvSpPr>
          <p:cNvPr id="173" name="矩形: 圆角 172"/>
          <p:cNvSpPr/>
          <p:nvPr/>
        </p:nvSpPr>
        <p:spPr>
          <a:xfrm>
            <a:off x="6696075" y="952500"/>
            <a:ext cx="4829175" cy="2381250"/>
          </a:xfrm>
          <a:prstGeom prst="roundRect">
            <a:avLst>
              <a:gd name="adj" fmla="val 48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6905625" y="1162050"/>
            <a:ext cx="44100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要交什么</a:t>
            </a:r>
            <a:endParaRPr/>
          </a:p>
        </p:txBody>
      </p:sp>
      <p:pic>
        <p:nvPicPr>
          <p:cNvPr id="175" name="图形 17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5625" y="1657350"/>
            <a:ext cx="228600" cy="228600"/>
          </a:xfrm>
          <a:prstGeom prst="rect">
            <a:avLst/>
          </a:prstGeom>
          <a:ln/>
        </p:spPr>
      </p:pic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7229475" y="1552575"/>
            <a:ext cx="4086225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作品文档（</a:t>
            </a:r>
            <a:r>
              <a:rPr lang="en-US" sz="1425">
                <a:solidFill>
                  <a:srgbClr val="334155"/>
                </a:solidFill>
                <a:latin typeface="思源黑体"/>
                <a:ea typeface="思源黑体"/>
              </a:rPr>
              <a:t>PDF</a:t>
            </a: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，≤</a:t>
            </a:r>
            <a:r>
              <a:rPr lang="en-US" sz="1425">
                <a:solidFill>
                  <a:srgbClr val="334155"/>
                </a:solidFill>
                <a:latin typeface="思源黑体"/>
                <a:ea typeface="思源黑体"/>
              </a:rPr>
              <a:t>10M</a:t>
            </a: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）：简介</a:t>
            </a:r>
            <a:r>
              <a:rPr lang="en-US" sz="1425">
                <a:solidFill>
                  <a:srgbClr val="334155"/>
                </a:solidFill>
                <a:latin typeface="思源黑体"/>
                <a:ea typeface="思源黑体"/>
              </a:rPr>
              <a:t>+</a:t>
            </a: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设计</a:t>
            </a:r>
            <a:r>
              <a:rPr lang="en-US" sz="1425">
                <a:solidFill>
                  <a:srgbClr val="334155"/>
                </a:solidFill>
                <a:latin typeface="思源黑体"/>
                <a:ea typeface="思源黑体"/>
              </a:rPr>
              <a:t>+</a:t>
            </a: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测试报告</a:t>
            </a:r>
            <a:r>
              <a:rPr lang="en-US" sz="1425">
                <a:solidFill>
                  <a:srgbClr val="334155"/>
                </a:solidFill>
                <a:latin typeface="思源黑体"/>
                <a:ea typeface="思源黑体"/>
              </a:rPr>
              <a:t>+</a:t>
            </a: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声明</a:t>
            </a:r>
            <a:endParaRPr/>
          </a:p>
        </p:txBody>
      </p:sp>
      <p:pic>
        <p:nvPicPr>
          <p:cNvPr id="177" name="图形 17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5625" y="2105025"/>
            <a:ext cx="228600" cy="228600"/>
          </a:xfrm>
          <a:prstGeom prst="rect">
            <a:avLst/>
          </a:prstGeom>
          <a:ln/>
        </p:spPr>
      </p:pic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7248525" y="2114550"/>
            <a:ext cx="27146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可执行程序：完整能跑的检测平台</a:t>
            </a:r>
            <a:endParaRPr/>
          </a:p>
        </p:txBody>
      </p:sp>
      <p:pic>
        <p:nvPicPr>
          <p:cNvPr id="179" name="图形 178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05625" y="2447925"/>
            <a:ext cx="228600" cy="228600"/>
          </a:xfrm>
          <a:prstGeom prst="rect">
            <a:avLst/>
          </a:prstGeom>
          <a:ln/>
        </p:spPr>
      </p:pic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7248525" y="2457450"/>
            <a:ext cx="37052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参赛声明（签名），材料不得含学校</a:t>
            </a:r>
            <a:r>
              <a:rPr lang="en-US" sz="1425">
                <a:solidFill>
                  <a:srgbClr val="334155"/>
                </a:solidFill>
                <a:latin typeface="思源黑体"/>
                <a:ea typeface="思源黑体"/>
              </a:rPr>
              <a:t>/</a:t>
            </a: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导师信息</a:t>
            </a:r>
            <a:endParaRPr/>
          </a:p>
        </p:txBody>
      </p:sp>
      <p:pic>
        <p:nvPicPr>
          <p:cNvPr id="181" name="图形 180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05625" y="2790825"/>
            <a:ext cx="228600" cy="228600"/>
          </a:xfrm>
          <a:prstGeom prst="rect">
            <a:avLst/>
          </a:prstGeom>
          <a:ln/>
        </p:spPr>
      </p:pic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7248525" y="2800350"/>
            <a:ext cx="31432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命名：</a:t>
            </a:r>
            <a:r>
              <a:rPr lang="en-US" sz="142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队长姓名</a:t>
            </a:r>
            <a:r>
              <a:rPr lang="en-US" sz="1425">
                <a:solidFill>
                  <a:srgbClr val="334155"/>
                </a:solidFill>
                <a:latin typeface="思源黑体"/>
                <a:ea typeface="思源黑体"/>
              </a:rPr>
              <a:t>+</a:t>
            </a: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作品名称</a:t>
            </a:r>
            <a:r>
              <a:rPr lang="en-US" sz="1425">
                <a:solidFill>
                  <a:srgbClr val="334155"/>
                </a:solidFill>
                <a:latin typeface="思源黑体"/>
                <a:ea typeface="思源黑体"/>
              </a:rPr>
              <a:t>+</a:t>
            </a:r>
            <a:r>
              <a:rPr lang="zh-CN" sz="1425">
                <a:solidFill>
                  <a:srgbClr val="334155"/>
                </a:solidFill>
                <a:latin typeface="思源黑体"/>
                <a:ea typeface="思源黑体"/>
              </a:rPr>
              <a:t>资料名称</a:t>
            </a:r>
            <a:r>
              <a:rPr lang="en-US" sz="142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183" name="矩形: 圆角 182"/>
          <p:cNvSpPr/>
          <p:nvPr/>
        </p:nvSpPr>
        <p:spPr>
          <a:xfrm>
            <a:off x="666750" y="3524250"/>
            <a:ext cx="10858500" cy="142875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  <a:effectLst>
            <a:outerShdw blurRad="190500" dist="38100" dir="5400000">
              <a:srgbClr val="3B82F6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952500" y="3790950"/>
            <a:ext cx="10287000" cy="895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FFFFFF"/>
                </a:solidFill>
                <a:latin typeface="思源黑体"/>
                <a:ea typeface="思源黑体"/>
              </a:rPr>
              <a:t>一句话总结这道赛题：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FFFFFF"/>
                </a:solidFill>
                <a:latin typeface="思源黑体"/>
                <a:ea typeface="思源黑体"/>
              </a:rPr>
              <a:t>造一台</a:t>
            </a:r>
            <a:r>
              <a:rPr lang="en-US" sz="1950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1950" b="1">
                <a:solidFill>
                  <a:srgbClr val="FFFFFF"/>
                </a:solidFill>
                <a:latin typeface="思源黑体"/>
                <a:ea typeface="思源黑体"/>
              </a:rPr>
              <a:t>雷达</a:t>
            </a:r>
            <a:r>
              <a:rPr lang="en-US" sz="1950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1950" b="1">
                <a:solidFill>
                  <a:srgbClr val="FFFFFF"/>
                </a:solidFill>
                <a:latin typeface="思源黑体"/>
                <a:ea typeface="思源黑体"/>
              </a:rPr>
              <a:t>，在坏人用掉那些公开泄露的云钥匙之前，先把它们找出来、报给主人。</a:t>
            </a:r>
            <a:endParaRPr/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666750" y="6210300"/>
            <a:ext cx="1200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赛题解读</a:t>
            </a: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小白版</a:t>
            </a: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完</a:t>
            </a:r>
            <a:endParaRPr/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11106150" y="62103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08 / 08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1388</Words>
  <Application>Microsoft Office PowerPoint</Application>
  <PresentationFormat>宽屏</PresentationFormat>
  <Paragraphs>102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JetBrains Mono</vt:lpstr>
      <vt:lpstr>思源黑体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jx zhang</cp:lastModifiedBy>
  <cp:revision>1</cp:revision>
  <dcterms:created xsi:type="dcterms:W3CDTF">2026-09-13T17:52:08Z</dcterms:created>
  <dcterms:modified xsi:type="dcterms:W3CDTF">2026-09-13T09:56:05Z</dcterms:modified>
</cp:coreProperties>
</file>